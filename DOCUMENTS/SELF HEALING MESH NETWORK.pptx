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62" r:id="rId7"/>
    <p:sldId id="270" r:id="rId8"/>
    <p:sldId id="271" r:id="rId9"/>
    <p:sldId id="265" r:id="rId10"/>
    <p:sldId id="266" r:id="rId11"/>
    <p:sldId id="267" r:id="rId12"/>
    <p:sldId id="272" r:id="rId13"/>
    <p:sldId id="269" r:id="rId14"/>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8" d="100"/>
          <a:sy n="58" d="100"/>
        </p:scale>
        <p:origin x="514"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6000" b="0" i="0">
                <a:solidFill>
                  <a:schemeClr val="tx1"/>
                </a:solidFill>
                <a:latin typeface="Arial Black"/>
                <a:cs typeface="Arial Black"/>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4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chemeClr val="tx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C3DBEC"/>
          </a:solidFill>
        </p:spPr>
        <p:txBody>
          <a:bodyPr wrap="square" lIns="0" tIns="0" rIns="0" bIns="0" rtlCol="0"/>
          <a:lstStyle/>
          <a:p>
            <a:endParaRPr/>
          </a:p>
        </p:txBody>
      </p:sp>
      <p:sp>
        <p:nvSpPr>
          <p:cNvPr id="2" name="Holder 2"/>
          <p:cNvSpPr>
            <a:spLocks noGrp="1"/>
          </p:cNvSpPr>
          <p:nvPr>
            <p:ph type="title"/>
          </p:nvPr>
        </p:nvSpPr>
        <p:spPr>
          <a:xfrm>
            <a:off x="7586309" y="996950"/>
            <a:ext cx="9781540" cy="939800"/>
          </a:xfrm>
          <a:prstGeom prst="rect">
            <a:avLst/>
          </a:prstGeom>
        </p:spPr>
        <p:txBody>
          <a:bodyPr wrap="square" lIns="0" tIns="0" rIns="0" bIns="0">
            <a:spAutoFit/>
          </a:bodyPr>
          <a:lstStyle>
            <a:lvl1pPr>
              <a:defRPr sz="6000" b="0" i="0">
                <a:solidFill>
                  <a:schemeClr val="tx1"/>
                </a:solidFill>
                <a:latin typeface="Arial Black"/>
                <a:cs typeface="Arial Black"/>
              </a:defRPr>
            </a:lvl1pPr>
          </a:lstStyle>
          <a:p>
            <a:endParaRPr/>
          </a:p>
        </p:txBody>
      </p:sp>
      <p:sp>
        <p:nvSpPr>
          <p:cNvPr id="3" name="Holder 3"/>
          <p:cNvSpPr>
            <a:spLocks noGrp="1"/>
          </p:cNvSpPr>
          <p:nvPr>
            <p:ph type="body" idx="1"/>
          </p:nvPr>
        </p:nvSpPr>
        <p:spPr>
          <a:xfrm>
            <a:off x="8509473" y="2261869"/>
            <a:ext cx="8568055" cy="6578600"/>
          </a:xfrm>
          <a:prstGeom prst="rect">
            <a:avLst/>
          </a:prstGeom>
        </p:spPr>
        <p:txBody>
          <a:bodyPr wrap="square" lIns="0" tIns="0" rIns="0" bIns="0">
            <a:spAutoFit/>
          </a:bodyPr>
          <a:lstStyle>
            <a:lvl1pPr>
              <a:defRPr sz="24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5/4/2026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jp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darshCodeRealm/SHMN-Naval-Communication/" TargetMode="External"/><Relationship Id="rId2" Type="http://schemas.openxmlformats.org/officeDocument/2006/relationships/hyperlink" Target="https://drive.google.com/file/d/1WOdy535DaGs-zP9U97azA8G__Pl-C75O/view?usp=drive_link" TargetMode="Externa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8288000" cy="10287000"/>
            <a:chOff x="0" y="0"/>
            <a:chExt cx="18288000" cy="10287000"/>
          </a:xfrm>
        </p:grpSpPr>
        <p:pic>
          <p:nvPicPr>
            <p:cNvPr id="3" name="object 3"/>
            <p:cNvPicPr/>
            <p:nvPr/>
          </p:nvPicPr>
          <p:blipFill>
            <a:blip r:embed="rId2" cstate="print"/>
            <a:stretch>
              <a:fillRect/>
            </a:stretch>
          </p:blipFill>
          <p:spPr>
            <a:xfrm>
              <a:off x="0" y="0"/>
              <a:ext cx="18284835" cy="10286999"/>
            </a:xfrm>
            <a:prstGeom prst="rect">
              <a:avLst/>
            </a:prstGeom>
          </p:spPr>
        </p:pic>
        <p:sp>
          <p:nvSpPr>
            <p:cNvPr id="4" name="object 4"/>
            <p:cNvSpPr/>
            <p:nvPr/>
          </p:nvSpPr>
          <p:spPr>
            <a:xfrm>
              <a:off x="0" y="0"/>
              <a:ext cx="18288000" cy="10287000"/>
            </a:xfrm>
            <a:custGeom>
              <a:avLst/>
              <a:gdLst/>
              <a:ahLst/>
              <a:cxnLst/>
              <a:rect l="l" t="t" r="r" b="b"/>
              <a:pathLst>
                <a:path w="18288000" h="10287000">
                  <a:moveTo>
                    <a:pt x="18288001" y="10287000"/>
                  </a:moveTo>
                  <a:lnTo>
                    <a:pt x="0" y="10287000"/>
                  </a:lnTo>
                  <a:lnTo>
                    <a:pt x="0" y="0"/>
                  </a:lnTo>
                  <a:lnTo>
                    <a:pt x="18288001" y="0"/>
                  </a:lnTo>
                  <a:lnTo>
                    <a:pt x="18288001" y="10287000"/>
                  </a:lnTo>
                  <a:close/>
                </a:path>
              </a:pathLst>
            </a:custGeom>
            <a:solidFill>
              <a:srgbClr val="AAD6D4">
                <a:alpha val="28999"/>
              </a:srgbClr>
            </a:solidFill>
          </p:spPr>
          <p:txBody>
            <a:bodyPr wrap="square" lIns="0" tIns="0" rIns="0" bIns="0" rtlCol="0"/>
            <a:lstStyle/>
            <a:p>
              <a:endParaRPr dirty="0"/>
            </a:p>
          </p:txBody>
        </p:sp>
      </p:grpSp>
      <p:sp>
        <p:nvSpPr>
          <p:cNvPr id="9" name="object 9"/>
          <p:cNvSpPr txBox="1"/>
          <p:nvPr/>
        </p:nvSpPr>
        <p:spPr>
          <a:xfrm>
            <a:off x="360913" y="4076700"/>
            <a:ext cx="17597120" cy="1739264"/>
          </a:xfrm>
          <a:prstGeom prst="rect">
            <a:avLst/>
          </a:prstGeom>
        </p:spPr>
        <p:txBody>
          <a:bodyPr vert="horz" wrap="square" lIns="0" tIns="239395" rIns="0" bIns="0" rtlCol="0">
            <a:spAutoFit/>
          </a:bodyPr>
          <a:lstStyle/>
          <a:p>
            <a:pPr marL="2159635" marR="5080" indent="-2147570">
              <a:lnSpc>
                <a:spcPct val="76800"/>
              </a:lnSpc>
              <a:spcBef>
                <a:spcPts val="1885"/>
              </a:spcBef>
            </a:pPr>
            <a:r>
              <a:rPr sz="6350" b="1" spc="-509" dirty="0">
                <a:solidFill>
                  <a:srgbClr val="1B2020"/>
                </a:solidFill>
                <a:latin typeface="Tahoma"/>
                <a:cs typeface="Tahoma"/>
              </a:rPr>
              <a:t>SELF-</a:t>
            </a:r>
            <a:r>
              <a:rPr sz="6350" b="1" spc="-710" dirty="0">
                <a:solidFill>
                  <a:srgbClr val="1B2020"/>
                </a:solidFill>
                <a:latin typeface="Tahoma"/>
                <a:cs typeface="Tahoma"/>
              </a:rPr>
              <a:t>H</a:t>
            </a:r>
            <a:r>
              <a:rPr sz="6350" b="1" spc="-745" dirty="0">
                <a:solidFill>
                  <a:srgbClr val="1B2020"/>
                </a:solidFill>
                <a:latin typeface="Tahoma"/>
                <a:cs typeface="Tahoma"/>
              </a:rPr>
              <a:t>E</a:t>
            </a:r>
            <a:r>
              <a:rPr sz="6350" b="1" spc="-675" dirty="0">
                <a:solidFill>
                  <a:srgbClr val="1B2020"/>
                </a:solidFill>
                <a:latin typeface="Tahoma"/>
                <a:cs typeface="Tahoma"/>
              </a:rPr>
              <a:t>A</a:t>
            </a:r>
            <a:r>
              <a:rPr sz="6350" b="1" spc="-775" dirty="0">
                <a:solidFill>
                  <a:srgbClr val="1B2020"/>
                </a:solidFill>
                <a:latin typeface="Tahoma"/>
                <a:cs typeface="Tahoma"/>
              </a:rPr>
              <a:t>L</a:t>
            </a:r>
            <a:r>
              <a:rPr sz="6350" b="1" spc="-950" dirty="0">
                <a:solidFill>
                  <a:srgbClr val="1B2020"/>
                </a:solidFill>
                <a:latin typeface="Tahoma"/>
                <a:cs typeface="Tahoma"/>
              </a:rPr>
              <a:t>I</a:t>
            </a:r>
            <a:r>
              <a:rPr sz="6350" b="1" spc="-705" dirty="0">
                <a:solidFill>
                  <a:srgbClr val="1B2020"/>
                </a:solidFill>
                <a:latin typeface="Tahoma"/>
                <a:cs typeface="Tahoma"/>
              </a:rPr>
              <a:t>N</a:t>
            </a:r>
            <a:r>
              <a:rPr sz="6350" b="1" spc="-340" dirty="0">
                <a:solidFill>
                  <a:srgbClr val="1B2020"/>
                </a:solidFill>
                <a:latin typeface="Tahoma"/>
                <a:cs typeface="Tahoma"/>
              </a:rPr>
              <a:t>G</a:t>
            </a:r>
            <a:r>
              <a:rPr sz="6350" b="1" spc="-1019" dirty="0">
                <a:solidFill>
                  <a:srgbClr val="1B2020"/>
                </a:solidFill>
                <a:latin typeface="Tahoma"/>
                <a:cs typeface="Tahoma"/>
              </a:rPr>
              <a:t> </a:t>
            </a:r>
            <a:r>
              <a:rPr sz="6350" b="1" spc="-385" dirty="0">
                <a:solidFill>
                  <a:srgbClr val="1B2020"/>
                </a:solidFill>
                <a:latin typeface="Tahoma"/>
                <a:cs typeface="Tahoma"/>
              </a:rPr>
              <a:t>AUTONOMOUS</a:t>
            </a:r>
            <a:r>
              <a:rPr sz="6350" b="1" spc="-1019" dirty="0">
                <a:solidFill>
                  <a:srgbClr val="1B2020"/>
                </a:solidFill>
                <a:latin typeface="Tahoma"/>
                <a:cs typeface="Tahoma"/>
              </a:rPr>
              <a:t> </a:t>
            </a:r>
            <a:r>
              <a:rPr sz="6350" b="1" spc="-509" dirty="0">
                <a:solidFill>
                  <a:srgbClr val="1B2020"/>
                </a:solidFill>
                <a:latin typeface="Tahoma"/>
                <a:cs typeface="Tahoma"/>
              </a:rPr>
              <a:t>MESH</a:t>
            </a:r>
            <a:r>
              <a:rPr sz="6350" b="1" spc="-1015" dirty="0">
                <a:solidFill>
                  <a:srgbClr val="1B2020"/>
                </a:solidFill>
                <a:latin typeface="Tahoma"/>
                <a:cs typeface="Tahoma"/>
              </a:rPr>
              <a:t> </a:t>
            </a:r>
            <a:r>
              <a:rPr sz="6350" b="1" spc="-280" dirty="0">
                <a:solidFill>
                  <a:srgbClr val="1B2020"/>
                </a:solidFill>
                <a:latin typeface="Tahoma"/>
                <a:cs typeface="Tahoma"/>
              </a:rPr>
              <a:t>(SHAM)</a:t>
            </a:r>
            <a:r>
              <a:rPr sz="6350" b="1" spc="-1019" dirty="0">
                <a:solidFill>
                  <a:srgbClr val="1B2020"/>
                </a:solidFill>
                <a:latin typeface="Tahoma"/>
                <a:cs typeface="Tahoma"/>
              </a:rPr>
              <a:t> </a:t>
            </a:r>
            <a:r>
              <a:rPr sz="6350" b="1" spc="-520" dirty="0">
                <a:solidFill>
                  <a:srgbClr val="1B2020"/>
                </a:solidFill>
                <a:latin typeface="Tahoma"/>
                <a:cs typeface="Tahoma"/>
              </a:rPr>
              <a:t>FOR </a:t>
            </a:r>
            <a:r>
              <a:rPr sz="6350" b="1" spc="-940" dirty="0">
                <a:solidFill>
                  <a:srgbClr val="1B2020"/>
                </a:solidFill>
                <a:latin typeface="Tahoma"/>
                <a:cs typeface="Tahoma"/>
              </a:rPr>
              <a:t>R</a:t>
            </a:r>
            <a:r>
              <a:rPr sz="6350" b="1" spc="-950" dirty="0">
                <a:solidFill>
                  <a:srgbClr val="1B2020"/>
                </a:solidFill>
                <a:latin typeface="Tahoma"/>
                <a:cs typeface="Tahoma"/>
              </a:rPr>
              <a:t>E</a:t>
            </a:r>
            <a:r>
              <a:rPr sz="6350" b="1" spc="-905" dirty="0">
                <a:solidFill>
                  <a:srgbClr val="1B2020"/>
                </a:solidFill>
                <a:latin typeface="Tahoma"/>
                <a:cs typeface="Tahoma"/>
              </a:rPr>
              <a:t>S</a:t>
            </a:r>
            <a:r>
              <a:rPr sz="6350" b="1" spc="-1155" dirty="0">
                <a:solidFill>
                  <a:srgbClr val="1B2020"/>
                </a:solidFill>
                <a:latin typeface="Tahoma"/>
                <a:cs typeface="Tahoma"/>
              </a:rPr>
              <a:t>I</a:t>
            </a:r>
            <a:r>
              <a:rPr sz="6350" b="1" spc="-980" dirty="0">
                <a:solidFill>
                  <a:srgbClr val="1B2020"/>
                </a:solidFill>
                <a:latin typeface="Tahoma"/>
                <a:cs typeface="Tahoma"/>
              </a:rPr>
              <a:t>L</a:t>
            </a:r>
            <a:r>
              <a:rPr sz="6350" b="1" spc="-1155" dirty="0">
                <a:solidFill>
                  <a:srgbClr val="1B2020"/>
                </a:solidFill>
                <a:latin typeface="Tahoma"/>
                <a:cs typeface="Tahoma"/>
              </a:rPr>
              <a:t>I</a:t>
            </a:r>
            <a:r>
              <a:rPr sz="6350" b="1" spc="-950" dirty="0">
                <a:solidFill>
                  <a:srgbClr val="1B2020"/>
                </a:solidFill>
                <a:latin typeface="Tahoma"/>
                <a:cs typeface="Tahoma"/>
              </a:rPr>
              <a:t>E</a:t>
            </a:r>
            <a:r>
              <a:rPr sz="6350" b="1" spc="-910" dirty="0">
                <a:solidFill>
                  <a:srgbClr val="1B2020"/>
                </a:solidFill>
                <a:latin typeface="Tahoma"/>
                <a:cs typeface="Tahoma"/>
              </a:rPr>
              <a:t>N</a:t>
            </a:r>
            <a:r>
              <a:rPr sz="6350" b="1" spc="-545" dirty="0">
                <a:solidFill>
                  <a:srgbClr val="1B2020"/>
                </a:solidFill>
                <a:latin typeface="Tahoma"/>
                <a:cs typeface="Tahoma"/>
              </a:rPr>
              <a:t>T</a:t>
            </a:r>
            <a:r>
              <a:rPr sz="6350" b="1" spc="-994" dirty="0">
                <a:solidFill>
                  <a:srgbClr val="1B2020"/>
                </a:solidFill>
                <a:latin typeface="Tahoma"/>
                <a:cs typeface="Tahoma"/>
              </a:rPr>
              <a:t> </a:t>
            </a:r>
            <a:r>
              <a:rPr sz="6350" b="1" spc="-360" dirty="0">
                <a:solidFill>
                  <a:srgbClr val="1B2020"/>
                </a:solidFill>
                <a:latin typeface="Tahoma"/>
                <a:cs typeface="Tahoma"/>
              </a:rPr>
              <a:t>NAVAL</a:t>
            </a:r>
            <a:r>
              <a:rPr sz="6350" b="1" spc="-994" dirty="0">
                <a:solidFill>
                  <a:srgbClr val="1B2020"/>
                </a:solidFill>
                <a:latin typeface="Tahoma"/>
                <a:cs typeface="Tahoma"/>
              </a:rPr>
              <a:t> </a:t>
            </a:r>
            <a:r>
              <a:rPr sz="6350" b="1" spc="-430" dirty="0">
                <a:solidFill>
                  <a:srgbClr val="1B2020"/>
                </a:solidFill>
                <a:latin typeface="Tahoma"/>
                <a:cs typeface="Tahoma"/>
              </a:rPr>
              <a:t>C</a:t>
            </a:r>
            <a:r>
              <a:rPr sz="6350" b="1" spc="-470" dirty="0">
                <a:solidFill>
                  <a:srgbClr val="1B2020"/>
                </a:solidFill>
                <a:latin typeface="Tahoma"/>
                <a:cs typeface="Tahoma"/>
              </a:rPr>
              <a:t>O</a:t>
            </a:r>
            <a:r>
              <a:rPr sz="6350" b="1" spc="-475" dirty="0">
                <a:solidFill>
                  <a:srgbClr val="1B2020"/>
                </a:solidFill>
                <a:latin typeface="Tahoma"/>
                <a:cs typeface="Tahoma"/>
              </a:rPr>
              <a:t>MM</a:t>
            </a:r>
            <a:r>
              <a:rPr sz="6350" b="1" spc="-500" dirty="0">
                <a:solidFill>
                  <a:srgbClr val="1B2020"/>
                </a:solidFill>
                <a:latin typeface="Tahoma"/>
                <a:cs typeface="Tahoma"/>
              </a:rPr>
              <a:t>U</a:t>
            </a:r>
            <a:r>
              <a:rPr sz="6350" b="1" spc="-495" dirty="0">
                <a:solidFill>
                  <a:srgbClr val="1B2020"/>
                </a:solidFill>
                <a:latin typeface="Tahoma"/>
                <a:cs typeface="Tahoma"/>
              </a:rPr>
              <a:t>N</a:t>
            </a:r>
            <a:r>
              <a:rPr sz="6350" b="1" spc="-740" dirty="0">
                <a:solidFill>
                  <a:srgbClr val="1B2020"/>
                </a:solidFill>
                <a:latin typeface="Tahoma"/>
                <a:cs typeface="Tahoma"/>
              </a:rPr>
              <a:t>I</a:t>
            </a:r>
            <a:r>
              <a:rPr sz="6350" b="1" spc="-430" dirty="0">
                <a:solidFill>
                  <a:srgbClr val="1B2020"/>
                </a:solidFill>
                <a:latin typeface="Tahoma"/>
                <a:cs typeface="Tahoma"/>
              </a:rPr>
              <a:t>C</a:t>
            </a:r>
            <a:r>
              <a:rPr sz="6350" b="1" spc="-465" dirty="0">
                <a:solidFill>
                  <a:srgbClr val="1B2020"/>
                </a:solidFill>
                <a:latin typeface="Tahoma"/>
                <a:cs typeface="Tahoma"/>
              </a:rPr>
              <a:t>A</a:t>
            </a:r>
            <a:r>
              <a:rPr sz="6350" b="1" spc="-500" dirty="0">
                <a:solidFill>
                  <a:srgbClr val="1B2020"/>
                </a:solidFill>
                <a:latin typeface="Tahoma"/>
                <a:cs typeface="Tahoma"/>
              </a:rPr>
              <a:t>T</a:t>
            </a:r>
            <a:r>
              <a:rPr sz="6350" b="1" spc="-740" dirty="0">
                <a:solidFill>
                  <a:srgbClr val="1B2020"/>
                </a:solidFill>
                <a:latin typeface="Tahoma"/>
                <a:cs typeface="Tahoma"/>
              </a:rPr>
              <a:t>I</a:t>
            </a:r>
            <a:r>
              <a:rPr sz="6350" b="1" spc="-470" dirty="0">
                <a:solidFill>
                  <a:srgbClr val="1B2020"/>
                </a:solidFill>
                <a:latin typeface="Tahoma"/>
                <a:cs typeface="Tahoma"/>
              </a:rPr>
              <a:t>O</a:t>
            </a:r>
            <a:r>
              <a:rPr sz="6350" b="1" spc="-495" dirty="0">
                <a:solidFill>
                  <a:srgbClr val="1B2020"/>
                </a:solidFill>
                <a:latin typeface="Tahoma"/>
                <a:cs typeface="Tahoma"/>
              </a:rPr>
              <a:t>N</a:t>
            </a:r>
            <a:r>
              <a:rPr sz="6350" b="1" spc="-130" dirty="0">
                <a:solidFill>
                  <a:srgbClr val="1B2020"/>
                </a:solidFill>
                <a:latin typeface="Tahoma"/>
                <a:cs typeface="Tahoma"/>
              </a:rPr>
              <a:t>S</a:t>
            </a:r>
            <a:endParaRPr sz="6350" dirty="0">
              <a:latin typeface="Tahoma"/>
              <a:cs typeface="Tahoma"/>
            </a:endParaRPr>
          </a:p>
        </p:txBody>
      </p:sp>
      <p:sp>
        <p:nvSpPr>
          <p:cNvPr id="10" name="object 10"/>
          <p:cNvSpPr txBox="1">
            <a:spLocks noGrp="1"/>
          </p:cNvSpPr>
          <p:nvPr>
            <p:ph type="title"/>
          </p:nvPr>
        </p:nvSpPr>
        <p:spPr>
          <a:xfrm>
            <a:off x="2464291" y="325648"/>
            <a:ext cx="15671310" cy="1881605"/>
          </a:xfrm>
          <a:prstGeom prst="rect">
            <a:avLst/>
          </a:prstGeom>
        </p:spPr>
        <p:txBody>
          <a:bodyPr vert="horz" wrap="square" lIns="0" tIns="12065" rIns="0" bIns="0" rtlCol="0">
            <a:spAutoFit/>
          </a:bodyPr>
          <a:lstStyle/>
          <a:p>
            <a:pPr marL="12700" marR="5080" algn="l">
              <a:lnSpc>
                <a:spcPct val="116199"/>
              </a:lnSpc>
              <a:spcBef>
                <a:spcPts val="95"/>
              </a:spcBef>
            </a:pPr>
            <a:r>
              <a:rPr lang="en-US" sz="5400" dirty="0"/>
              <a:t>Shri Guru Gobind Singhji Institute of Engineering and Technology, Nanded</a:t>
            </a:r>
            <a:endParaRPr sz="3600" dirty="0"/>
          </a:p>
        </p:txBody>
      </p:sp>
      <p:sp>
        <p:nvSpPr>
          <p:cNvPr id="11" name="object 11"/>
          <p:cNvSpPr txBox="1"/>
          <p:nvPr/>
        </p:nvSpPr>
        <p:spPr>
          <a:xfrm>
            <a:off x="14970993" y="8983761"/>
            <a:ext cx="2971800" cy="908903"/>
          </a:xfrm>
          <a:prstGeom prst="rect">
            <a:avLst/>
          </a:prstGeom>
        </p:spPr>
        <p:txBody>
          <a:bodyPr vert="horz" wrap="square" lIns="0" tIns="12065" rIns="0" bIns="0" rtlCol="0">
            <a:spAutoFit/>
          </a:bodyPr>
          <a:lstStyle/>
          <a:p>
            <a:pPr marL="12700" marR="5080" algn="ctr">
              <a:lnSpc>
                <a:spcPct val="117200"/>
              </a:lnSpc>
              <a:spcBef>
                <a:spcPts val="95"/>
              </a:spcBef>
            </a:pPr>
            <a:r>
              <a:rPr lang="en-IN" sz="2500" spc="-130" dirty="0">
                <a:solidFill>
                  <a:schemeClr val="bg1"/>
                </a:solidFill>
                <a:latin typeface="Arial Black"/>
                <a:cs typeface="Arial Black"/>
              </a:rPr>
              <a:t>Project</a:t>
            </a:r>
            <a:r>
              <a:rPr sz="2500" spc="-165" dirty="0">
                <a:solidFill>
                  <a:schemeClr val="bg1"/>
                </a:solidFill>
                <a:latin typeface="Arial Black"/>
                <a:cs typeface="Arial Black"/>
              </a:rPr>
              <a:t> </a:t>
            </a:r>
            <a:r>
              <a:rPr sz="2500" spc="-10" dirty="0">
                <a:solidFill>
                  <a:schemeClr val="bg1"/>
                </a:solidFill>
                <a:latin typeface="Arial Black"/>
                <a:cs typeface="Arial Black"/>
              </a:rPr>
              <a:t>Guide </a:t>
            </a:r>
            <a:endParaRPr lang="en-IN" sz="2500" spc="-10" dirty="0">
              <a:solidFill>
                <a:schemeClr val="bg1"/>
              </a:solidFill>
              <a:latin typeface="Arial Black"/>
              <a:cs typeface="Arial Black"/>
            </a:endParaRPr>
          </a:p>
          <a:p>
            <a:pPr marL="12700" marR="5080" algn="ctr">
              <a:lnSpc>
                <a:spcPct val="117200"/>
              </a:lnSpc>
              <a:spcBef>
                <a:spcPts val="95"/>
              </a:spcBef>
            </a:pPr>
            <a:r>
              <a:rPr sz="2500" dirty="0">
                <a:solidFill>
                  <a:schemeClr val="bg1"/>
                </a:solidFill>
                <a:latin typeface="Lucida Sans Unicode"/>
                <a:cs typeface="Lucida Sans Unicode"/>
              </a:rPr>
              <a:t>DR.</a:t>
            </a:r>
            <a:r>
              <a:rPr sz="2500" spc="-175" dirty="0">
                <a:solidFill>
                  <a:schemeClr val="bg1"/>
                </a:solidFill>
                <a:latin typeface="Lucida Sans Unicode"/>
                <a:cs typeface="Lucida Sans Unicode"/>
              </a:rPr>
              <a:t> </a:t>
            </a:r>
            <a:r>
              <a:rPr sz="2500" spc="-155" dirty="0">
                <a:solidFill>
                  <a:schemeClr val="bg1"/>
                </a:solidFill>
                <a:latin typeface="Lucida Sans Unicode"/>
                <a:cs typeface="Lucida Sans Unicode"/>
              </a:rPr>
              <a:t>A.V.</a:t>
            </a:r>
            <a:r>
              <a:rPr sz="2500" spc="-175" dirty="0">
                <a:solidFill>
                  <a:schemeClr val="bg1"/>
                </a:solidFill>
                <a:latin typeface="Lucida Sans Unicode"/>
                <a:cs typeface="Lucida Sans Unicode"/>
              </a:rPr>
              <a:t> </a:t>
            </a:r>
            <a:r>
              <a:rPr sz="2500" spc="-10" dirty="0">
                <a:solidFill>
                  <a:schemeClr val="bg1"/>
                </a:solidFill>
                <a:latin typeface="Lucida Sans Unicode"/>
                <a:cs typeface="Lucida Sans Unicode"/>
              </a:rPr>
              <a:t>Nandedkar</a:t>
            </a:r>
            <a:endParaRPr sz="2500" dirty="0">
              <a:solidFill>
                <a:schemeClr val="bg1"/>
              </a:solidFill>
              <a:latin typeface="Lucida Sans Unicode"/>
              <a:cs typeface="Lucida Sans Unicode"/>
            </a:endParaRPr>
          </a:p>
        </p:txBody>
      </p:sp>
      <p:pic>
        <p:nvPicPr>
          <p:cNvPr id="13" name="Picture 12">
            <a:extLst>
              <a:ext uri="{FF2B5EF4-FFF2-40B4-BE49-F238E27FC236}">
                <a16:creationId xmlns:a16="http://schemas.microsoft.com/office/drawing/2014/main" id="{C6182BF8-019D-0F7C-6DFC-85A344D01807}"/>
              </a:ext>
            </a:extLst>
          </p:cNvPr>
          <p:cNvPicPr>
            <a:picLocks noChangeAspect="1"/>
          </p:cNvPicPr>
          <p:nvPr/>
        </p:nvPicPr>
        <p:blipFill>
          <a:blip r:embed="rId3"/>
          <a:stretch>
            <a:fillRect/>
          </a:stretch>
        </p:blipFill>
        <p:spPr>
          <a:xfrm>
            <a:off x="345673" y="154670"/>
            <a:ext cx="1772945" cy="2112332"/>
          </a:xfrm>
          <a:prstGeom prst="rect">
            <a:avLst/>
          </a:prstGeom>
        </p:spPr>
      </p:pic>
      <p:sp>
        <p:nvSpPr>
          <p:cNvPr id="15" name="TextBox 14">
            <a:extLst>
              <a:ext uri="{FF2B5EF4-FFF2-40B4-BE49-F238E27FC236}">
                <a16:creationId xmlns:a16="http://schemas.microsoft.com/office/drawing/2014/main" id="{CC97C6E5-113F-2683-C9B3-EDC139F50AF1}"/>
              </a:ext>
            </a:extLst>
          </p:cNvPr>
          <p:cNvSpPr txBox="1"/>
          <p:nvPr/>
        </p:nvSpPr>
        <p:spPr>
          <a:xfrm>
            <a:off x="1905000" y="5869529"/>
            <a:ext cx="14782800" cy="1815882"/>
          </a:xfrm>
          <a:prstGeom prst="rect">
            <a:avLst/>
          </a:prstGeom>
          <a:noFill/>
        </p:spPr>
        <p:txBody>
          <a:bodyPr wrap="square">
            <a:spAutoFit/>
          </a:bodyPr>
          <a:lstStyle/>
          <a:p>
            <a:r>
              <a:rPr lang="en-IN" sz="2800" i="0" dirty="0">
                <a:solidFill>
                  <a:schemeClr val="tx1"/>
                </a:solidFill>
                <a:effectLst/>
                <a:latin typeface="Mona Sans VF"/>
              </a:rPr>
              <a:t>A self-healing mesh network for resilient communication in disasters, maritime use, and conflict zones. Enables fishing boats to stay connected via multi-hop links without infrastructure. Automatically reroutes data if nodes fail, ensuring reliable communication even during network disruptions or signal jamming.</a:t>
            </a:r>
            <a:endParaRPr lang="en-IN" sz="28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6533515" cy="10287000"/>
            <a:chOff x="0" y="0"/>
            <a:chExt cx="6533515" cy="10287000"/>
          </a:xfrm>
        </p:grpSpPr>
        <p:pic>
          <p:nvPicPr>
            <p:cNvPr id="3" name="object 3"/>
            <p:cNvPicPr/>
            <p:nvPr/>
          </p:nvPicPr>
          <p:blipFill>
            <a:blip r:embed="rId2" cstate="print"/>
            <a:stretch>
              <a:fillRect/>
            </a:stretch>
          </p:blipFill>
          <p:spPr>
            <a:xfrm>
              <a:off x="0" y="0"/>
              <a:ext cx="6532962" cy="10286999"/>
            </a:xfrm>
            <a:prstGeom prst="rect">
              <a:avLst/>
            </a:prstGeom>
          </p:spPr>
        </p:pic>
        <p:sp>
          <p:nvSpPr>
            <p:cNvPr id="4" name="object 4"/>
            <p:cNvSpPr/>
            <p:nvPr/>
          </p:nvSpPr>
          <p:spPr>
            <a:xfrm>
              <a:off x="0" y="0"/>
              <a:ext cx="6530340" cy="10287000"/>
            </a:xfrm>
            <a:custGeom>
              <a:avLst/>
              <a:gdLst/>
              <a:ahLst/>
              <a:cxnLst/>
              <a:rect l="l" t="t" r="r" b="b"/>
              <a:pathLst>
                <a:path w="6530340" h="10287000">
                  <a:moveTo>
                    <a:pt x="6530043" y="10286999"/>
                  </a:moveTo>
                  <a:lnTo>
                    <a:pt x="0" y="10286999"/>
                  </a:lnTo>
                  <a:lnTo>
                    <a:pt x="0" y="0"/>
                  </a:lnTo>
                  <a:lnTo>
                    <a:pt x="6530043" y="0"/>
                  </a:lnTo>
                  <a:lnTo>
                    <a:pt x="6530043" y="10286999"/>
                  </a:lnTo>
                  <a:close/>
                </a:path>
              </a:pathLst>
            </a:custGeom>
            <a:solidFill>
              <a:srgbClr val="AAD6D4">
                <a:alpha val="55999"/>
              </a:srgbClr>
            </a:solidFill>
          </p:spPr>
          <p:txBody>
            <a:bodyPr wrap="square" lIns="0" tIns="0" rIns="0" bIns="0" rtlCol="0"/>
            <a:lstStyle/>
            <a:p>
              <a:endParaRPr/>
            </a:p>
          </p:txBody>
        </p:sp>
      </p:grpSp>
      <p:sp>
        <p:nvSpPr>
          <p:cNvPr id="5" name="object 5"/>
          <p:cNvSpPr txBox="1">
            <a:spLocks noGrp="1"/>
          </p:cNvSpPr>
          <p:nvPr>
            <p:ph type="title"/>
          </p:nvPr>
        </p:nvSpPr>
        <p:spPr>
          <a:xfrm>
            <a:off x="8582720" y="1426502"/>
            <a:ext cx="8231505" cy="1013460"/>
          </a:xfrm>
          <a:prstGeom prst="rect">
            <a:avLst/>
          </a:prstGeom>
        </p:spPr>
        <p:txBody>
          <a:bodyPr vert="horz" wrap="square" lIns="0" tIns="16510" rIns="0" bIns="0" rtlCol="0">
            <a:spAutoFit/>
          </a:bodyPr>
          <a:lstStyle/>
          <a:p>
            <a:pPr marL="12700">
              <a:lnSpc>
                <a:spcPct val="100000"/>
              </a:lnSpc>
              <a:spcBef>
                <a:spcPts val="130"/>
              </a:spcBef>
            </a:pPr>
            <a:r>
              <a:rPr sz="6450" b="1" spc="405" dirty="0">
                <a:solidFill>
                  <a:srgbClr val="1B2020"/>
                </a:solidFill>
                <a:latin typeface="Trebuchet MS"/>
                <a:cs typeface="Trebuchet MS"/>
              </a:rPr>
              <a:t>Problem</a:t>
            </a:r>
            <a:r>
              <a:rPr sz="6450" b="1" spc="-565" dirty="0">
                <a:solidFill>
                  <a:srgbClr val="1B2020"/>
                </a:solidFill>
                <a:latin typeface="Trebuchet MS"/>
                <a:cs typeface="Trebuchet MS"/>
              </a:rPr>
              <a:t> </a:t>
            </a:r>
            <a:r>
              <a:rPr sz="6450" b="1" spc="459" dirty="0">
                <a:solidFill>
                  <a:srgbClr val="1B2020"/>
                </a:solidFill>
                <a:latin typeface="Trebuchet MS"/>
                <a:cs typeface="Trebuchet MS"/>
              </a:rPr>
              <a:t>statement</a:t>
            </a:r>
            <a:endParaRPr sz="6450">
              <a:latin typeface="Trebuchet MS"/>
              <a:cs typeface="Trebuchet MS"/>
            </a:endParaRPr>
          </a:p>
        </p:txBody>
      </p:sp>
      <p:sp>
        <p:nvSpPr>
          <p:cNvPr id="6" name="object 6"/>
          <p:cNvSpPr txBox="1"/>
          <p:nvPr/>
        </p:nvSpPr>
        <p:spPr>
          <a:xfrm>
            <a:off x="8639570" y="2619758"/>
            <a:ext cx="8536305" cy="4820550"/>
          </a:xfrm>
          <a:prstGeom prst="rect">
            <a:avLst/>
          </a:prstGeom>
        </p:spPr>
        <p:txBody>
          <a:bodyPr vert="horz" wrap="square" lIns="0" tIns="48260" rIns="0" bIns="0" rtlCol="0">
            <a:spAutoFit/>
          </a:bodyPr>
          <a:lstStyle/>
          <a:p>
            <a:r>
              <a:rPr lang="en-US" sz="2400" dirty="0"/>
              <a:t>Maritime communication for fishing boats often depends on centralized infrastructure, making it unreliable during disasters, costly, and vulnerable to jamming. This project proposes a decentralized, mesh network that enables direct boat-to-boat communication without external infrastructure. Using Reinforcement Learning for adaptive routing and lightweight Ascon encryption for secure data transfer, the system ensures reliable, energy-efficient, and self-healing communication. It is specifically designed to support fishing communities and disaster management scenarios, improving safety, coordination, and real-time connectivity in remote and emergency conditions.</a:t>
            </a:r>
          </a:p>
          <a:p>
            <a:pPr marL="12700" marR="808355">
              <a:lnSpc>
                <a:spcPct val="110800"/>
              </a:lnSpc>
            </a:pPr>
            <a:r>
              <a:rPr sz="2200" spc="165" dirty="0">
                <a:latin typeface="Tahoma"/>
                <a:cs typeface="Tahoma"/>
              </a:rPr>
              <a:t>.</a:t>
            </a:r>
            <a:endParaRPr sz="2200" dirty="0">
              <a:latin typeface="Tahoma"/>
              <a:cs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8591549" cy="10286999"/>
          </a:xfrm>
          <a:prstGeom prst="rect">
            <a:avLst/>
          </a:prstGeom>
        </p:spPr>
      </p:pic>
      <p:sp>
        <p:nvSpPr>
          <p:cNvPr id="3" name="object 3"/>
          <p:cNvSpPr txBox="1">
            <a:spLocks noGrp="1"/>
          </p:cNvSpPr>
          <p:nvPr>
            <p:ph type="title"/>
          </p:nvPr>
        </p:nvSpPr>
        <p:spPr>
          <a:xfrm>
            <a:off x="9131300" y="140671"/>
            <a:ext cx="9385300" cy="1760675"/>
          </a:xfrm>
          <a:prstGeom prst="rect">
            <a:avLst/>
          </a:prstGeom>
        </p:spPr>
        <p:txBody>
          <a:bodyPr vert="horz" wrap="square" lIns="0" tIns="74930" rIns="0" bIns="0" rtlCol="0">
            <a:spAutoFit/>
          </a:bodyPr>
          <a:lstStyle/>
          <a:p>
            <a:pPr marL="12700" marR="5080">
              <a:lnSpc>
                <a:spcPts val="6820"/>
              </a:lnSpc>
              <a:spcBef>
                <a:spcPts val="590"/>
              </a:spcBef>
            </a:pPr>
            <a:r>
              <a:rPr sz="5400" b="1" spc="275" dirty="0">
                <a:latin typeface="Trebuchet MS"/>
                <a:cs typeface="Trebuchet MS"/>
              </a:rPr>
              <a:t>Existing </a:t>
            </a:r>
            <a:r>
              <a:rPr sz="5400" b="1" spc="520" dirty="0">
                <a:latin typeface="Trebuchet MS"/>
                <a:cs typeface="Trebuchet MS"/>
              </a:rPr>
              <a:t>Communication </a:t>
            </a:r>
            <a:r>
              <a:rPr sz="5400" b="1" spc="580" dirty="0">
                <a:latin typeface="Trebuchet MS"/>
                <a:cs typeface="Trebuchet MS"/>
              </a:rPr>
              <a:t>Systems</a:t>
            </a:r>
          </a:p>
        </p:txBody>
      </p:sp>
      <p:sp>
        <p:nvSpPr>
          <p:cNvPr id="7" name="object 7"/>
          <p:cNvSpPr txBox="1"/>
          <p:nvPr/>
        </p:nvSpPr>
        <p:spPr>
          <a:xfrm>
            <a:off x="8839200" y="2117670"/>
            <a:ext cx="8214995" cy="6982681"/>
          </a:xfrm>
          <a:prstGeom prst="rect">
            <a:avLst/>
          </a:prstGeom>
        </p:spPr>
        <p:txBody>
          <a:bodyPr vert="horz" wrap="square" lIns="0" tIns="11430" rIns="0" bIns="0" rtlCol="0">
            <a:spAutoFit/>
          </a:bodyPr>
          <a:lstStyle/>
          <a:p>
            <a:pPr marL="12700">
              <a:lnSpc>
                <a:spcPct val="100000"/>
              </a:lnSpc>
              <a:spcBef>
                <a:spcPts val="160"/>
              </a:spcBef>
            </a:pPr>
            <a:r>
              <a:rPr sz="2550" spc="145" dirty="0">
                <a:latin typeface="Tahoma"/>
                <a:cs typeface="Tahoma"/>
              </a:rPr>
              <a:t>The</a:t>
            </a:r>
            <a:r>
              <a:rPr sz="2550" spc="210" dirty="0">
                <a:latin typeface="Tahoma"/>
                <a:cs typeface="Tahoma"/>
              </a:rPr>
              <a:t> </a:t>
            </a:r>
            <a:r>
              <a:rPr sz="2550" spc="185" dirty="0">
                <a:latin typeface="Tahoma"/>
                <a:cs typeface="Tahoma"/>
              </a:rPr>
              <a:t>main</a:t>
            </a:r>
            <a:r>
              <a:rPr sz="2550" spc="204" dirty="0">
                <a:latin typeface="Tahoma"/>
                <a:cs typeface="Tahoma"/>
              </a:rPr>
              <a:t> </a:t>
            </a:r>
            <a:r>
              <a:rPr sz="2550" spc="254" dirty="0">
                <a:latin typeface="Tahoma"/>
                <a:cs typeface="Tahoma"/>
              </a:rPr>
              <a:t>problems</a:t>
            </a:r>
            <a:r>
              <a:rPr sz="2550" spc="210" dirty="0">
                <a:latin typeface="Tahoma"/>
                <a:cs typeface="Tahoma"/>
              </a:rPr>
              <a:t> </a:t>
            </a:r>
            <a:r>
              <a:rPr sz="2550" spc="45" dirty="0">
                <a:latin typeface="Tahoma"/>
                <a:cs typeface="Tahoma"/>
              </a:rPr>
              <a:t>are:</a:t>
            </a:r>
            <a:endParaRPr sz="2550" dirty="0">
              <a:latin typeface="Tahoma"/>
              <a:cs typeface="Tahoma"/>
            </a:endParaRPr>
          </a:p>
          <a:p>
            <a:pPr marL="1028065" indent="-457200">
              <a:lnSpc>
                <a:spcPct val="100000"/>
              </a:lnSpc>
              <a:spcBef>
                <a:spcPts val="335"/>
              </a:spcBef>
              <a:buFont typeface="Arial" panose="020B0604020202020204" pitchFamily="34" charset="0"/>
              <a:buChar char="•"/>
            </a:pPr>
            <a:r>
              <a:rPr lang="en-US" sz="2800" b="1" dirty="0"/>
              <a:t>Overdependence on Infrastructure:</a:t>
            </a:r>
            <a:br>
              <a:rPr lang="en-US" sz="2800" dirty="0"/>
            </a:br>
            <a:r>
              <a:rPr lang="en-US" sz="2800" dirty="0"/>
              <a:t>Most systems (satellite, cellular, coastal towers) require external infrastructure. During disasters, this infrastructure can fail, leaving boats completely disconnected.</a:t>
            </a:r>
          </a:p>
          <a:p>
            <a:pPr marL="1028065" indent="-457200">
              <a:lnSpc>
                <a:spcPct val="100000"/>
              </a:lnSpc>
              <a:spcBef>
                <a:spcPts val="335"/>
              </a:spcBef>
              <a:buFont typeface="Arial" panose="020B0604020202020204" pitchFamily="34" charset="0"/>
              <a:buChar char="•"/>
            </a:pPr>
            <a:r>
              <a:rPr lang="en-US" sz="2800" b="1" dirty="0"/>
              <a:t>Limited Range in Affordable Systems:</a:t>
            </a:r>
            <a:br>
              <a:rPr lang="en-US" sz="2800" dirty="0"/>
            </a:br>
            <a:r>
              <a:rPr lang="en-US" sz="2800" dirty="0"/>
              <a:t>Low-cost options like VHF/UHF radios work only over short distances, making them ineffective in deep-sea or dispersed fleet scenarios.</a:t>
            </a:r>
          </a:p>
          <a:p>
            <a:pPr marL="1028065" indent="-457200">
              <a:lnSpc>
                <a:spcPct val="100000"/>
              </a:lnSpc>
              <a:spcBef>
                <a:spcPts val="335"/>
              </a:spcBef>
              <a:buFont typeface="Arial" panose="020B0604020202020204" pitchFamily="34" charset="0"/>
              <a:buChar char="•"/>
            </a:pPr>
            <a:r>
              <a:rPr lang="en-US" sz="2800" b="1" dirty="0"/>
              <a:t>High Cost Barrier:</a:t>
            </a:r>
            <a:br>
              <a:rPr lang="en-US" sz="2800" dirty="0"/>
            </a:br>
            <a:r>
              <a:rPr lang="en-US" sz="2800" dirty="0"/>
              <a:t>Satellite communication and advanced equipment are </a:t>
            </a:r>
            <a:r>
              <a:rPr lang="en-US" sz="2800" b="1" dirty="0"/>
              <a:t>too expensive</a:t>
            </a:r>
            <a:r>
              <a:rPr lang="en-US" sz="2800" dirty="0"/>
              <a:t> for small-scale fishing communities, limiting accessibility.</a:t>
            </a:r>
            <a:endParaRPr lang="en-IN" sz="2550" spc="204" dirty="0">
              <a:latin typeface="Tahoma"/>
              <a:cs typeface="Tahoma"/>
            </a:endParaRPr>
          </a:p>
          <a:p>
            <a:pPr marL="570865">
              <a:lnSpc>
                <a:spcPct val="100000"/>
              </a:lnSpc>
              <a:spcBef>
                <a:spcPts val="334"/>
              </a:spcBef>
            </a:pPr>
            <a:endParaRPr sz="2550" dirty="0">
              <a:latin typeface="Tahoma"/>
              <a:cs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905624" cy="10286999"/>
          </a:xfrm>
          <a:prstGeom prst="rect">
            <a:avLst/>
          </a:prstGeom>
        </p:spPr>
      </p:pic>
      <p:sp>
        <p:nvSpPr>
          <p:cNvPr id="3" name="object 3"/>
          <p:cNvSpPr txBox="1">
            <a:spLocks noGrp="1"/>
          </p:cNvSpPr>
          <p:nvPr>
            <p:ph type="title"/>
          </p:nvPr>
        </p:nvSpPr>
        <p:spPr>
          <a:xfrm>
            <a:off x="7848600" y="450882"/>
            <a:ext cx="3251200" cy="939800"/>
          </a:xfrm>
          <a:prstGeom prst="rect">
            <a:avLst/>
          </a:prstGeom>
        </p:spPr>
        <p:txBody>
          <a:bodyPr vert="horz" wrap="square" lIns="0" tIns="12700" rIns="0" bIns="0" rtlCol="0">
            <a:spAutoFit/>
          </a:bodyPr>
          <a:lstStyle/>
          <a:p>
            <a:pPr marL="12700">
              <a:lnSpc>
                <a:spcPct val="100000"/>
              </a:lnSpc>
              <a:spcBef>
                <a:spcPts val="100"/>
              </a:spcBef>
            </a:pPr>
            <a:r>
              <a:rPr b="1" spc="285" dirty="0">
                <a:solidFill>
                  <a:srgbClr val="1B2020"/>
                </a:solidFill>
                <a:latin typeface="Trebuchet MS"/>
                <a:cs typeface="Trebuchet MS"/>
              </a:rPr>
              <a:t>Solution</a:t>
            </a:r>
          </a:p>
        </p:txBody>
      </p:sp>
      <p:sp>
        <p:nvSpPr>
          <p:cNvPr id="7" name="object 7"/>
          <p:cNvSpPr txBox="1"/>
          <p:nvPr/>
        </p:nvSpPr>
        <p:spPr>
          <a:xfrm>
            <a:off x="7848600" y="1272876"/>
            <a:ext cx="9982200" cy="8563242"/>
          </a:xfrm>
          <a:prstGeom prst="rect">
            <a:avLst/>
          </a:prstGeom>
        </p:spPr>
        <p:txBody>
          <a:bodyPr vert="horz" wrap="square" lIns="0" tIns="67945" rIns="0" bIns="0" rtlCol="0">
            <a:spAutoFit/>
          </a:bodyPr>
          <a:lstStyle/>
          <a:p>
            <a:r>
              <a:rPr lang="en-US" sz="2400" b="1" dirty="0"/>
              <a:t>The Solution: A Smart, Self-Healing Network for Fishing Boats &amp; Disaster Response</a:t>
            </a:r>
          </a:p>
          <a:p>
            <a:r>
              <a:rPr lang="en-US" sz="2400" dirty="0"/>
              <a:t>We are building a decentralized communication network where every fishing boat, rescue vessel, or coastal station acts as an independent node. Instead of relying on satellites or coastal towers, these nodes directly communicate with each other to maintain connectivity even in remote seas or disaster situations.</a:t>
            </a:r>
          </a:p>
          <a:p>
            <a:endParaRPr lang="en-US" sz="2400" dirty="0"/>
          </a:p>
          <a:p>
            <a:r>
              <a:rPr lang="en-US" sz="2400" b="1" dirty="0"/>
              <a:t>How it  works:</a:t>
            </a:r>
            <a:endParaRPr lang="en-US" sz="2400" dirty="0"/>
          </a:p>
          <a:p>
            <a:r>
              <a:rPr lang="en-US" sz="2400" b="1" dirty="0"/>
              <a:t>Self-Healing:</a:t>
            </a:r>
            <a:r>
              <a:rPr lang="en-US" sz="2400" dirty="0"/>
              <a:t> If a signal is lost due to bad weather, interference, or a node going offline, the network automatically reroutes communication through nearby boats, ensuring continuous connectivity. </a:t>
            </a:r>
          </a:p>
          <a:p>
            <a:r>
              <a:rPr lang="en-US" sz="2400" b="1" dirty="0"/>
              <a:t>Best Route Synchronization:</a:t>
            </a:r>
            <a:r>
              <a:rPr lang="en-US" sz="2400" dirty="0"/>
              <a:t> The system continuously updates and selects the most efficient communication path based on distance, signal strength, and network conditions, ensuring fast and reliable data transfer. </a:t>
            </a:r>
          </a:p>
          <a:p>
            <a:r>
              <a:rPr lang="en-US" sz="2400" b="1" dirty="0"/>
              <a:t>No Single Point of Failure:</a:t>
            </a:r>
            <a:r>
              <a:rPr lang="en-US" sz="2400" dirty="0"/>
              <a:t> With no central infrastructure, the network remains operational even if some nodes fail, making it highly resilient during cyclones, storms, or emergencies. </a:t>
            </a:r>
          </a:p>
          <a:p>
            <a:endParaRPr lang="en-US" sz="2400" dirty="0"/>
          </a:p>
          <a:p>
            <a:r>
              <a:rPr lang="en-US" sz="2400" b="1" dirty="0"/>
              <a:t>The Result:  </a:t>
            </a:r>
            <a:r>
              <a:rPr lang="en-US" sz="2400" dirty="0"/>
              <a:t>A reliable, low-cost, and secure communication system that keeps fishing communities connected, improves coordination during disasters, and enables real-time emergency response even in deep-sea and infrastructure-less environments.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887200" y="640703"/>
            <a:ext cx="6400800" cy="867802"/>
          </a:xfrm>
          <a:prstGeom prst="rect">
            <a:avLst/>
          </a:prstGeom>
        </p:spPr>
        <p:txBody>
          <a:bodyPr vert="horz" wrap="square" lIns="0" tIns="71755" rIns="0" bIns="0" rtlCol="0">
            <a:spAutoFit/>
          </a:bodyPr>
          <a:lstStyle/>
          <a:p>
            <a:pPr marL="12700" marR="5080">
              <a:lnSpc>
                <a:spcPts val="6830"/>
              </a:lnSpc>
              <a:spcBef>
                <a:spcPts val="565"/>
              </a:spcBef>
            </a:pPr>
            <a:r>
              <a:rPr lang="en-IN" sz="4800" b="1" spc="320" dirty="0">
                <a:solidFill>
                  <a:srgbClr val="1B2020"/>
                </a:solidFill>
                <a:latin typeface="Trebuchet MS"/>
                <a:cs typeface="Trebuchet MS"/>
              </a:rPr>
              <a:t>Dijkstra Algorithm</a:t>
            </a:r>
            <a:endParaRPr sz="4800" b="1" spc="320" dirty="0">
              <a:solidFill>
                <a:srgbClr val="1B2020"/>
              </a:solidFill>
              <a:latin typeface="Trebuchet MS"/>
              <a:cs typeface="Trebuchet MS"/>
            </a:endParaRPr>
          </a:p>
        </p:txBody>
      </p:sp>
      <p:pic>
        <p:nvPicPr>
          <p:cNvPr id="6" name="Picture 5">
            <a:extLst>
              <a:ext uri="{FF2B5EF4-FFF2-40B4-BE49-F238E27FC236}">
                <a16:creationId xmlns:a16="http://schemas.microsoft.com/office/drawing/2014/main" id="{6658A705-9654-AD12-B595-64C51E10C8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112948"/>
            <a:ext cx="11189328" cy="7459552"/>
          </a:xfrm>
          <a:prstGeom prst="rect">
            <a:avLst/>
          </a:prstGeom>
        </p:spPr>
      </p:pic>
      <p:sp>
        <p:nvSpPr>
          <p:cNvPr id="7" name="Rectangle 1">
            <a:extLst>
              <a:ext uri="{FF2B5EF4-FFF2-40B4-BE49-F238E27FC236}">
                <a16:creationId xmlns:a16="http://schemas.microsoft.com/office/drawing/2014/main" id="{9E1287DB-57CF-F0E3-A0CE-BB95E8329070}"/>
              </a:ext>
            </a:extLst>
          </p:cNvPr>
          <p:cNvSpPr>
            <a:spLocks noChangeArrowheads="1"/>
          </p:cNvSpPr>
          <p:nvPr/>
        </p:nvSpPr>
        <p:spPr bwMode="auto">
          <a:xfrm>
            <a:off x="11811000" y="1600568"/>
            <a:ext cx="6172200" cy="7109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Optimal Route Selection:</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Dijkstra ensures data always travels through the shortest and most reliable path between boats, reducing delay and improving communication speed.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Better Signal Utilization:</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By selecting routes based on link quality (signal strength, distance), it avoids weak or unstable connections, ensuring clearer communication.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Reduced Packet Loss: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Efficient path calculation minimizes transmission errors and dropped messages, which is critical during emergencies. </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Energy Efficiency:</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Choosing shorter and stable paths reduces retransmissions and power usage—important for battery-powered devices on fishing boats.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75">
            <a:extLst>
              <a:ext uri="{FF2B5EF4-FFF2-40B4-BE49-F238E27FC236}">
                <a16:creationId xmlns:a16="http://schemas.microsoft.com/office/drawing/2014/main" id="{EC2539C9-45C5-8E1C-EBF8-5E22A04FAA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12700"/>
            <a:ext cx="15411450" cy="10274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F1B9FC9-9B1C-2F67-11A5-890D4029DF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399" y="0"/>
            <a:ext cx="22402800" cy="10553699"/>
          </a:xfrm>
          <a:prstGeom prst="rect">
            <a:avLst/>
          </a:prstGeom>
        </p:spPr>
      </p:pic>
    </p:spTree>
    <p:extLst>
      <p:ext uri="{BB962C8B-B14F-4D97-AF65-F5344CB8AC3E}">
        <p14:creationId xmlns:p14="http://schemas.microsoft.com/office/powerpoint/2010/main" val="3637175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B0376C-763A-440E-3BFB-6676862795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114300"/>
            <a:ext cx="22798048" cy="10515600"/>
          </a:xfrm>
          <a:prstGeom prst="rect">
            <a:avLst/>
          </a:prstGeom>
        </p:spPr>
      </p:pic>
    </p:spTree>
    <p:extLst>
      <p:ext uri="{BB962C8B-B14F-4D97-AF65-F5344CB8AC3E}">
        <p14:creationId xmlns:p14="http://schemas.microsoft.com/office/powerpoint/2010/main" val="2804675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9322593"/>
            <a:ext cx="18288000" cy="964406"/>
          </a:xfrm>
          <a:prstGeom prst="rect">
            <a:avLst/>
          </a:prstGeom>
        </p:spPr>
      </p:pic>
      <p:pic>
        <p:nvPicPr>
          <p:cNvPr id="3" name="object 3"/>
          <p:cNvPicPr/>
          <p:nvPr/>
        </p:nvPicPr>
        <p:blipFill>
          <a:blip r:embed="rId3" cstate="print"/>
          <a:stretch>
            <a:fillRect/>
          </a:stretch>
        </p:blipFill>
        <p:spPr>
          <a:xfrm>
            <a:off x="1852347" y="4351588"/>
            <a:ext cx="15705709" cy="2571750"/>
          </a:xfrm>
          <a:prstGeom prst="rect">
            <a:avLst/>
          </a:prstGeom>
        </p:spPr>
      </p:pic>
      <p:pic>
        <p:nvPicPr>
          <p:cNvPr id="4" name="object 4"/>
          <p:cNvPicPr/>
          <p:nvPr/>
        </p:nvPicPr>
        <p:blipFill>
          <a:blip r:embed="rId4" cstate="print"/>
          <a:stretch>
            <a:fillRect/>
          </a:stretch>
        </p:blipFill>
        <p:spPr>
          <a:xfrm>
            <a:off x="0" y="0"/>
            <a:ext cx="18288000" cy="3395023"/>
          </a:xfrm>
          <a:prstGeom prst="rect">
            <a:avLst/>
          </a:prstGeom>
        </p:spPr>
      </p:pic>
      <p:graphicFrame>
        <p:nvGraphicFramePr>
          <p:cNvPr id="5" name="object 5"/>
          <p:cNvGraphicFramePr>
            <a:graphicFrameLocks noGrp="1"/>
          </p:cNvGraphicFramePr>
          <p:nvPr/>
        </p:nvGraphicFramePr>
        <p:xfrm>
          <a:off x="1337603" y="7038595"/>
          <a:ext cx="16570957" cy="1569720"/>
        </p:xfrm>
        <a:graphic>
          <a:graphicData uri="http://schemas.openxmlformats.org/drawingml/2006/table">
            <a:tbl>
              <a:tblPr firstRow="1" bandRow="1">
                <a:tableStyleId>{2D5ABB26-0587-4C30-8999-92F81FD0307C}</a:tableStyleId>
              </a:tblPr>
              <a:tblGrid>
                <a:gridCol w="2573020">
                  <a:extLst>
                    <a:ext uri="{9D8B030D-6E8A-4147-A177-3AD203B41FA5}">
                      <a16:colId xmlns:a16="http://schemas.microsoft.com/office/drawing/2014/main" val="20000"/>
                    </a:ext>
                  </a:extLst>
                </a:gridCol>
                <a:gridCol w="2230755">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673984">
                  <a:extLst>
                    <a:ext uri="{9D8B030D-6E8A-4147-A177-3AD203B41FA5}">
                      <a16:colId xmlns:a16="http://schemas.microsoft.com/office/drawing/2014/main" val="20003"/>
                    </a:ext>
                  </a:extLst>
                </a:gridCol>
                <a:gridCol w="2035809">
                  <a:extLst>
                    <a:ext uri="{9D8B030D-6E8A-4147-A177-3AD203B41FA5}">
                      <a16:colId xmlns:a16="http://schemas.microsoft.com/office/drawing/2014/main" val="20004"/>
                    </a:ext>
                  </a:extLst>
                </a:gridCol>
                <a:gridCol w="2399030">
                  <a:extLst>
                    <a:ext uri="{9D8B030D-6E8A-4147-A177-3AD203B41FA5}">
                      <a16:colId xmlns:a16="http://schemas.microsoft.com/office/drawing/2014/main" val="20005"/>
                    </a:ext>
                  </a:extLst>
                </a:gridCol>
                <a:gridCol w="2372359">
                  <a:extLst>
                    <a:ext uri="{9D8B030D-6E8A-4147-A177-3AD203B41FA5}">
                      <a16:colId xmlns:a16="http://schemas.microsoft.com/office/drawing/2014/main" val="20006"/>
                    </a:ext>
                  </a:extLst>
                </a:gridCol>
              </a:tblGrid>
              <a:tr h="390525">
                <a:tc>
                  <a:txBody>
                    <a:bodyPr/>
                    <a:lstStyle/>
                    <a:p>
                      <a:pPr marR="37465" algn="ctr">
                        <a:lnSpc>
                          <a:spcPts val="2975"/>
                        </a:lnSpc>
                      </a:pPr>
                      <a:r>
                        <a:rPr sz="2750" spc="-185" dirty="0">
                          <a:solidFill>
                            <a:srgbClr val="0A0A0A"/>
                          </a:solidFill>
                          <a:latin typeface="Arial MT"/>
                          <a:cs typeface="Arial MT"/>
                        </a:rPr>
                        <a:t>Phase</a:t>
                      </a:r>
                      <a:r>
                        <a:rPr sz="2750" spc="-35" dirty="0">
                          <a:solidFill>
                            <a:srgbClr val="0A0A0A"/>
                          </a:solidFill>
                          <a:latin typeface="Arial MT"/>
                          <a:cs typeface="Arial MT"/>
                        </a:rPr>
                        <a:t> </a:t>
                      </a:r>
                      <a:r>
                        <a:rPr sz="2750" spc="-25" dirty="0">
                          <a:latin typeface="Arial MT"/>
                          <a:cs typeface="Arial MT"/>
                        </a:rPr>
                        <a:t>1:</a:t>
                      </a:r>
                      <a:endParaRPr sz="2750">
                        <a:latin typeface="Arial MT"/>
                        <a:cs typeface="Arial MT"/>
                      </a:endParaRPr>
                    </a:p>
                  </a:txBody>
                  <a:tcPr marL="0" marR="0" marT="0" marB="0"/>
                </a:tc>
                <a:tc>
                  <a:txBody>
                    <a:bodyPr/>
                    <a:lstStyle/>
                    <a:p>
                      <a:pPr marR="252095" algn="ctr">
                        <a:lnSpc>
                          <a:spcPts val="2975"/>
                        </a:lnSpc>
                      </a:pPr>
                      <a:r>
                        <a:rPr sz="2750" spc="-190" dirty="0">
                          <a:latin typeface="Arial MT"/>
                          <a:cs typeface="Arial MT"/>
                        </a:rPr>
                        <a:t>Phase</a:t>
                      </a:r>
                      <a:r>
                        <a:rPr sz="2750" spc="30" dirty="0">
                          <a:latin typeface="Arial MT"/>
                          <a:cs typeface="Arial MT"/>
                        </a:rPr>
                        <a:t> </a:t>
                      </a:r>
                      <a:r>
                        <a:rPr sz="2750" spc="-25" dirty="0">
                          <a:solidFill>
                            <a:srgbClr val="0F0F0F"/>
                          </a:solidFill>
                          <a:latin typeface="Arial MT"/>
                          <a:cs typeface="Arial MT"/>
                        </a:rPr>
                        <a:t>2:</a:t>
                      </a:r>
                      <a:endParaRPr sz="2750">
                        <a:latin typeface="Arial MT"/>
                        <a:cs typeface="Arial MT"/>
                      </a:endParaRPr>
                    </a:p>
                  </a:txBody>
                  <a:tcPr marL="0" marR="0" marT="0" marB="0"/>
                </a:tc>
                <a:tc>
                  <a:txBody>
                    <a:bodyPr/>
                    <a:lstStyle/>
                    <a:p>
                      <a:pPr marL="269875" algn="ctr">
                        <a:lnSpc>
                          <a:spcPts val="2975"/>
                        </a:lnSpc>
                      </a:pPr>
                      <a:r>
                        <a:rPr sz="2750" spc="-170" dirty="0">
                          <a:latin typeface="Arial MT"/>
                          <a:cs typeface="Arial MT"/>
                        </a:rPr>
                        <a:t>Phase</a:t>
                      </a:r>
                      <a:r>
                        <a:rPr sz="2750" spc="10" dirty="0">
                          <a:latin typeface="Arial MT"/>
                          <a:cs typeface="Arial MT"/>
                        </a:rPr>
                        <a:t> </a:t>
                      </a:r>
                      <a:r>
                        <a:rPr sz="2750" spc="-25" dirty="0">
                          <a:latin typeface="Arial MT"/>
                          <a:cs typeface="Arial MT"/>
                        </a:rPr>
                        <a:t>3:</a:t>
                      </a:r>
                      <a:endParaRPr sz="2750">
                        <a:latin typeface="Arial MT"/>
                        <a:cs typeface="Arial MT"/>
                      </a:endParaRPr>
                    </a:p>
                  </a:txBody>
                  <a:tcPr marL="0" marR="0" marT="0" marB="0"/>
                </a:tc>
                <a:tc>
                  <a:txBody>
                    <a:bodyPr/>
                    <a:lstStyle/>
                    <a:p>
                      <a:pPr marR="83185" algn="ctr">
                        <a:lnSpc>
                          <a:spcPts val="2975"/>
                        </a:lnSpc>
                      </a:pPr>
                      <a:r>
                        <a:rPr sz="2750" spc="-165" dirty="0">
                          <a:latin typeface="Arial MT"/>
                          <a:cs typeface="Arial MT"/>
                        </a:rPr>
                        <a:t>Phase</a:t>
                      </a:r>
                      <a:r>
                        <a:rPr sz="2750" spc="5" dirty="0">
                          <a:latin typeface="Arial MT"/>
                          <a:cs typeface="Arial MT"/>
                        </a:rPr>
                        <a:t> </a:t>
                      </a:r>
                      <a:r>
                        <a:rPr sz="2750" spc="-25" dirty="0">
                          <a:latin typeface="Arial MT"/>
                          <a:cs typeface="Arial MT"/>
                        </a:rPr>
                        <a:t>4:</a:t>
                      </a:r>
                      <a:endParaRPr sz="2750">
                        <a:latin typeface="Arial MT"/>
                        <a:cs typeface="Arial MT"/>
                      </a:endParaRPr>
                    </a:p>
                  </a:txBody>
                  <a:tcPr marL="0" marR="0" marT="0" marB="0"/>
                </a:tc>
                <a:tc>
                  <a:txBody>
                    <a:bodyPr/>
                    <a:lstStyle/>
                    <a:p>
                      <a:pPr marR="133985" algn="ctr">
                        <a:lnSpc>
                          <a:spcPts val="2975"/>
                        </a:lnSpc>
                      </a:pPr>
                      <a:r>
                        <a:rPr sz="2750" spc="-145" dirty="0">
                          <a:latin typeface="Arial MT"/>
                          <a:cs typeface="Arial MT"/>
                        </a:rPr>
                        <a:t>Phase</a:t>
                      </a:r>
                      <a:r>
                        <a:rPr sz="2750" spc="-45" dirty="0">
                          <a:latin typeface="Arial MT"/>
                          <a:cs typeface="Arial MT"/>
                        </a:rPr>
                        <a:t> </a:t>
                      </a:r>
                      <a:r>
                        <a:rPr sz="2750" spc="-25" dirty="0">
                          <a:solidFill>
                            <a:srgbClr val="111111"/>
                          </a:solidFill>
                          <a:latin typeface="Arial MT"/>
                          <a:cs typeface="Arial MT"/>
                        </a:rPr>
                        <a:t>5:</a:t>
                      </a:r>
                      <a:endParaRPr sz="2750">
                        <a:latin typeface="Arial MT"/>
                        <a:cs typeface="Arial MT"/>
                      </a:endParaRPr>
                    </a:p>
                  </a:txBody>
                  <a:tcPr marL="0" marR="0" marT="0" marB="0"/>
                </a:tc>
                <a:tc>
                  <a:txBody>
                    <a:bodyPr/>
                    <a:lstStyle/>
                    <a:p>
                      <a:pPr marL="292735" algn="ctr">
                        <a:lnSpc>
                          <a:spcPts val="2975"/>
                        </a:lnSpc>
                      </a:pPr>
                      <a:r>
                        <a:rPr sz="2750" spc="-175" dirty="0">
                          <a:latin typeface="Arial MT"/>
                          <a:cs typeface="Arial MT"/>
                        </a:rPr>
                        <a:t>Phase</a:t>
                      </a:r>
                      <a:r>
                        <a:rPr sz="2750" spc="-15" dirty="0">
                          <a:latin typeface="Arial MT"/>
                          <a:cs typeface="Arial MT"/>
                        </a:rPr>
                        <a:t> </a:t>
                      </a:r>
                      <a:r>
                        <a:rPr sz="2750" spc="-25" dirty="0">
                          <a:solidFill>
                            <a:srgbClr val="0E0E0E"/>
                          </a:solidFill>
                          <a:latin typeface="Arial MT"/>
                          <a:cs typeface="Arial MT"/>
                        </a:rPr>
                        <a:t>9:</a:t>
                      </a:r>
                      <a:endParaRPr sz="2750">
                        <a:latin typeface="Arial MT"/>
                        <a:cs typeface="Arial MT"/>
                      </a:endParaRPr>
                    </a:p>
                  </a:txBody>
                  <a:tcPr marL="0" marR="0" marT="0" marB="0"/>
                </a:tc>
                <a:tc>
                  <a:txBody>
                    <a:bodyPr/>
                    <a:lstStyle/>
                    <a:p>
                      <a:pPr marL="183515" algn="ctr">
                        <a:lnSpc>
                          <a:spcPts val="2975"/>
                        </a:lnSpc>
                      </a:pPr>
                      <a:r>
                        <a:rPr sz="2750" spc="-180" dirty="0">
                          <a:latin typeface="Arial MT"/>
                          <a:cs typeface="Arial MT"/>
                        </a:rPr>
                        <a:t>Phase</a:t>
                      </a:r>
                      <a:r>
                        <a:rPr sz="2750" spc="-5" dirty="0">
                          <a:latin typeface="Arial MT"/>
                          <a:cs typeface="Arial MT"/>
                        </a:rPr>
                        <a:t> </a:t>
                      </a:r>
                      <a:r>
                        <a:rPr sz="2750" spc="-25" dirty="0">
                          <a:solidFill>
                            <a:srgbClr val="0C0C0C"/>
                          </a:solidFill>
                          <a:latin typeface="Arial MT"/>
                          <a:cs typeface="Arial MT"/>
                        </a:rPr>
                        <a:t>7:</a:t>
                      </a:r>
                      <a:endParaRPr sz="2750">
                        <a:latin typeface="Arial MT"/>
                        <a:cs typeface="Arial MT"/>
                      </a:endParaRPr>
                    </a:p>
                  </a:txBody>
                  <a:tcPr marL="0" marR="0" marT="0" marB="0"/>
                </a:tc>
                <a:extLst>
                  <a:ext uri="{0D108BD9-81ED-4DB2-BD59-A6C34878D82A}">
                    <a16:rowId xmlns:a16="http://schemas.microsoft.com/office/drawing/2014/main" val="10000"/>
                  </a:ext>
                </a:extLst>
              </a:tr>
              <a:tr h="392430">
                <a:tc>
                  <a:txBody>
                    <a:bodyPr/>
                    <a:lstStyle/>
                    <a:p>
                      <a:pPr marR="76835" algn="ctr">
                        <a:lnSpc>
                          <a:spcPts val="2990"/>
                        </a:lnSpc>
                      </a:pPr>
                      <a:r>
                        <a:rPr sz="2800" spc="-155" dirty="0">
                          <a:solidFill>
                            <a:srgbClr val="0A0A0A"/>
                          </a:solidFill>
                          <a:latin typeface="Arial MT"/>
                          <a:cs typeface="Arial MT"/>
                        </a:rPr>
                        <a:t>Problem</a:t>
                      </a:r>
                      <a:r>
                        <a:rPr sz="2800" spc="5" dirty="0">
                          <a:solidFill>
                            <a:srgbClr val="0A0A0A"/>
                          </a:solidFill>
                          <a:latin typeface="Arial MT"/>
                          <a:cs typeface="Arial MT"/>
                        </a:rPr>
                        <a:t> </a:t>
                      </a:r>
                      <a:r>
                        <a:rPr sz="2800" spc="-135" dirty="0">
                          <a:latin typeface="Arial MT"/>
                          <a:cs typeface="Arial MT"/>
                        </a:rPr>
                        <a:t>Analysis</a:t>
                      </a:r>
                      <a:endParaRPr sz="2800">
                        <a:latin typeface="Arial MT"/>
                        <a:cs typeface="Arial MT"/>
                      </a:endParaRPr>
                    </a:p>
                  </a:txBody>
                  <a:tcPr marL="0" marR="0" marT="0" marB="0"/>
                </a:tc>
                <a:tc>
                  <a:txBody>
                    <a:bodyPr/>
                    <a:lstStyle/>
                    <a:p>
                      <a:pPr marR="290195" algn="ctr">
                        <a:lnSpc>
                          <a:spcPts val="2990"/>
                        </a:lnSpc>
                      </a:pPr>
                      <a:r>
                        <a:rPr sz="2800" spc="-275" dirty="0">
                          <a:latin typeface="Arial MT"/>
                          <a:cs typeface="Arial MT"/>
                        </a:rPr>
                        <a:t>System</a:t>
                      </a:r>
                      <a:endParaRPr sz="2800">
                        <a:latin typeface="Arial MT"/>
                        <a:cs typeface="Arial MT"/>
                      </a:endParaRPr>
                    </a:p>
                  </a:txBody>
                  <a:tcPr marL="0" marR="0" marT="0" marB="0"/>
                </a:tc>
                <a:tc>
                  <a:txBody>
                    <a:bodyPr/>
                    <a:lstStyle/>
                    <a:p>
                      <a:pPr marL="257810" algn="ctr">
                        <a:lnSpc>
                          <a:spcPts val="2990"/>
                        </a:lnSpc>
                      </a:pPr>
                      <a:r>
                        <a:rPr sz="2800" spc="-190" dirty="0">
                          <a:latin typeface="Arial MT"/>
                          <a:cs typeface="Arial MT"/>
                        </a:rPr>
                        <a:t>Hardware</a:t>
                      </a:r>
                      <a:r>
                        <a:rPr sz="2800" spc="40" dirty="0">
                          <a:latin typeface="Arial MT"/>
                          <a:cs typeface="Arial MT"/>
                        </a:rPr>
                        <a:t> </a:t>
                      </a:r>
                      <a:r>
                        <a:rPr sz="2800" spc="95" dirty="0">
                          <a:latin typeface="Arial MT"/>
                          <a:cs typeface="Arial MT"/>
                        </a:rPr>
                        <a:t>&amp;</a:t>
                      </a:r>
                      <a:endParaRPr sz="2800">
                        <a:latin typeface="Arial MT"/>
                        <a:cs typeface="Arial MT"/>
                      </a:endParaRPr>
                    </a:p>
                  </a:txBody>
                  <a:tcPr marL="0" marR="0" marT="0" marB="0"/>
                </a:tc>
                <a:tc>
                  <a:txBody>
                    <a:bodyPr/>
                    <a:lstStyle/>
                    <a:p>
                      <a:pPr marR="81280" algn="ctr">
                        <a:lnSpc>
                          <a:spcPts val="2990"/>
                        </a:lnSpc>
                      </a:pPr>
                      <a:r>
                        <a:rPr sz="2800" spc="-30" dirty="0">
                          <a:latin typeface="Arial MT"/>
                          <a:cs typeface="Arial MT"/>
                        </a:rPr>
                        <a:t>Implementation</a:t>
                      </a:r>
                      <a:endParaRPr sz="2800">
                        <a:latin typeface="Arial MT"/>
                        <a:cs typeface="Arial MT"/>
                      </a:endParaRPr>
                    </a:p>
                  </a:txBody>
                  <a:tcPr marL="0" marR="0" marT="0" marB="0"/>
                </a:tc>
                <a:tc>
                  <a:txBody>
                    <a:bodyPr/>
                    <a:lstStyle/>
                    <a:p>
                      <a:pPr marR="138430" algn="ctr">
                        <a:lnSpc>
                          <a:spcPts val="2990"/>
                        </a:lnSpc>
                      </a:pPr>
                      <a:r>
                        <a:rPr sz="2800" spc="-200" dirty="0">
                          <a:latin typeface="Arial MT"/>
                          <a:cs typeface="Arial MT"/>
                        </a:rPr>
                        <a:t>Testing</a:t>
                      </a:r>
                      <a:r>
                        <a:rPr sz="2800" spc="35" dirty="0">
                          <a:latin typeface="Arial MT"/>
                          <a:cs typeface="Arial MT"/>
                        </a:rPr>
                        <a:t> </a:t>
                      </a:r>
                      <a:r>
                        <a:rPr sz="2800" spc="95" dirty="0">
                          <a:solidFill>
                            <a:srgbClr val="0F0F0F"/>
                          </a:solidFill>
                          <a:latin typeface="Arial MT"/>
                          <a:cs typeface="Arial MT"/>
                        </a:rPr>
                        <a:t>&amp;</a:t>
                      </a:r>
                      <a:endParaRPr sz="2800">
                        <a:latin typeface="Arial MT"/>
                        <a:cs typeface="Arial MT"/>
                      </a:endParaRPr>
                    </a:p>
                  </a:txBody>
                  <a:tcPr marL="0" marR="0" marT="0" marB="0"/>
                </a:tc>
                <a:tc>
                  <a:txBody>
                    <a:bodyPr/>
                    <a:lstStyle/>
                    <a:p>
                      <a:pPr marL="248285" algn="ctr">
                        <a:lnSpc>
                          <a:spcPts val="2990"/>
                        </a:lnSpc>
                      </a:pPr>
                      <a:r>
                        <a:rPr sz="2800" spc="-80" dirty="0">
                          <a:latin typeface="Arial MT"/>
                          <a:cs typeface="Arial MT"/>
                        </a:rPr>
                        <a:t>Result</a:t>
                      </a:r>
                      <a:endParaRPr sz="2800">
                        <a:latin typeface="Arial MT"/>
                        <a:cs typeface="Arial MT"/>
                      </a:endParaRPr>
                    </a:p>
                  </a:txBody>
                  <a:tcPr marL="0" marR="0" marT="0" marB="0"/>
                </a:tc>
                <a:tc>
                  <a:txBody>
                    <a:bodyPr/>
                    <a:lstStyle/>
                    <a:p>
                      <a:pPr marL="132080" algn="ctr">
                        <a:lnSpc>
                          <a:spcPts val="2990"/>
                        </a:lnSpc>
                      </a:pPr>
                      <a:r>
                        <a:rPr sz="2800" spc="-105" dirty="0">
                          <a:latin typeface="Arial MT"/>
                          <a:cs typeface="Arial MT"/>
                        </a:rPr>
                        <a:t>Documentation</a:t>
                      </a:r>
                      <a:endParaRPr sz="2800">
                        <a:latin typeface="Arial MT"/>
                        <a:cs typeface="Arial MT"/>
                      </a:endParaRPr>
                    </a:p>
                  </a:txBody>
                  <a:tcPr marL="0" marR="0" marT="0" marB="0"/>
                </a:tc>
                <a:extLst>
                  <a:ext uri="{0D108BD9-81ED-4DB2-BD59-A6C34878D82A}">
                    <a16:rowId xmlns:a16="http://schemas.microsoft.com/office/drawing/2014/main" val="10001"/>
                  </a:ext>
                </a:extLst>
              </a:tr>
              <a:tr h="394335">
                <a:tc>
                  <a:txBody>
                    <a:bodyPr/>
                    <a:lstStyle/>
                    <a:p>
                      <a:pPr marR="88900" algn="ctr">
                        <a:lnSpc>
                          <a:spcPts val="3010"/>
                        </a:lnSpc>
                      </a:pPr>
                      <a:r>
                        <a:rPr sz="2800" spc="145" dirty="0">
                          <a:solidFill>
                            <a:srgbClr val="0C0C0C"/>
                          </a:solidFill>
                          <a:latin typeface="Arial MT"/>
                          <a:cs typeface="Arial MT"/>
                        </a:rPr>
                        <a:t>&amp;</a:t>
                      </a:r>
                      <a:r>
                        <a:rPr sz="2800" spc="-60" dirty="0">
                          <a:solidFill>
                            <a:srgbClr val="0C0C0C"/>
                          </a:solidFill>
                          <a:latin typeface="Arial MT"/>
                          <a:cs typeface="Arial MT"/>
                        </a:rPr>
                        <a:t> </a:t>
                      </a:r>
                      <a:r>
                        <a:rPr sz="2800" spc="-105" dirty="0">
                          <a:latin typeface="Arial MT"/>
                          <a:cs typeface="Arial MT"/>
                        </a:rPr>
                        <a:t>Requirement</a:t>
                      </a:r>
                      <a:endParaRPr sz="2800">
                        <a:latin typeface="Arial MT"/>
                        <a:cs typeface="Arial MT"/>
                      </a:endParaRPr>
                    </a:p>
                  </a:txBody>
                  <a:tcPr marL="0" marR="0" marT="0" marB="0"/>
                </a:tc>
                <a:tc>
                  <a:txBody>
                    <a:bodyPr/>
                    <a:lstStyle/>
                    <a:p>
                      <a:pPr marR="282575" algn="ctr">
                        <a:lnSpc>
                          <a:spcPts val="3010"/>
                        </a:lnSpc>
                      </a:pPr>
                      <a:r>
                        <a:rPr sz="2800" spc="-60" dirty="0">
                          <a:latin typeface="Arial MT"/>
                          <a:cs typeface="Arial MT"/>
                        </a:rPr>
                        <a:t>Architecture</a:t>
                      </a:r>
                      <a:endParaRPr sz="2800">
                        <a:latin typeface="Arial MT"/>
                        <a:cs typeface="Arial MT"/>
                      </a:endParaRPr>
                    </a:p>
                  </a:txBody>
                  <a:tcPr marL="0" marR="0" marT="0" marB="0"/>
                </a:tc>
                <a:tc>
                  <a:txBody>
                    <a:bodyPr/>
                    <a:lstStyle/>
                    <a:p>
                      <a:pPr marL="242570" algn="ctr">
                        <a:lnSpc>
                          <a:spcPts val="3010"/>
                        </a:lnSpc>
                      </a:pPr>
                      <a:r>
                        <a:rPr sz="2800" spc="-60" dirty="0">
                          <a:latin typeface="Arial MT"/>
                          <a:cs typeface="Arial MT"/>
                        </a:rPr>
                        <a:t>Software</a:t>
                      </a:r>
                      <a:endParaRPr sz="2800">
                        <a:latin typeface="Arial MT"/>
                        <a:cs typeface="Arial MT"/>
                      </a:endParaRPr>
                    </a:p>
                  </a:txBody>
                  <a:tcPr marL="0" marR="0" marT="0" marB="0"/>
                </a:tc>
                <a:tc>
                  <a:txBody>
                    <a:bodyPr/>
                    <a:lstStyle/>
                    <a:p>
                      <a:pPr>
                        <a:lnSpc>
                          <a:spcPct val="100000"/>
                        </a:lnSpc>
                      </a:pPr>
                      <a:endParaRPr sz="2500">
                        <a:latin typeface="Times New Roman"/>
                        <a:cs typeface="Times New Roman"/>
                      </a:endParaRPr>
                    </a:p>
                  </a:txBody>
                  <a:tcPr marL="0" marR="0" marT="0" marB="0"/>
                </a:tc>
                <a:tc>
                  <a:txBody>
                    <a:bodyPr/>
                    <a:lstStyle/>
                    <a:p>
                      <a:pPr marR="161290" algn="ctr">
                        <a:lnSpc>
                          <a:spcPts val="3010"/>
                        </a:lnSpc>
                      </a:pPr>
                      <a:r>
                        <a:rPr sz="2800" spc="-55" dirty="0">
                          <a:latin typeface="Arial MT"/>
                          <a:cs typeface="Arial MT"/>
                        </a:rPr>
                        <a:t>Validation</a:t>
                      </a:r>
                      <a:endParaRPr sz="2800">
                        <a:latin typeface="Arial MT"/>
                        <a:cs typeface="Arial MT"/>
                      </a:endParaRPr>
                    </a:p>
                  </a:txBody>
                  <a:tcPr marL="0" marR="0" marT="0" marB="0"/>
                </a:tc>
                <a:tc>
                  <a:txBody>
                    <a:bodyPr/>
                    <a:lstStyle/>
                    <a:p>
                      <a:pPr marL="285115" algn="ctr">
                        <a:lnSpc>
                          <a:spcPts val="3010"/>
                        </a:lnSpc>
                      </a:pPr>
                      <a:r>
                        <a:rPr sz="2800" spc="-190" dirty="0">
                          <a:latin typeface="Arial MT"/>
                          <a:cs typeface="Arial MT"/>
                        </a:rPr>
                        <a:t>Analysis</a:t>
                      </a:r>
                      <a:r>
                        <a:rPr sz="2800" spc="35" dirty="0">
                          <a:latin typeface="Arial MT"/>
                          <a:cs typeface="Arial MT"/>
                        </a:rPr>
                        <a:t> </a:t>
                      </a:r>
                      <a:r>
                        <a:rPr sz="2800" spc="95" dirty="0">
                          <a:latin typeface="Arial MT"/>
                          <a:cs typeface="Arial MT"/>
                        </a:rPr>
                        <a:t>&amp;</a:t>
                      </a:r>
                      <a:endParaRPr sz="2800">
                        <a:latin typeface="Arial MT"/>
                        <a:cs typeface="Arial MT"/>
                      </a:endParaRPr>
                    </a:p>
                  </a:txBody>
                  <a:tcPr marL="0" marR="0" marT="0" marB="0"/>
                </a:tc>
                <a:tc>
                  <a:txBody>
                    <a:bodyPr/>
                    <a:lstStyle/>
                    <a:p>
                      <a:pPr>
                        <a:lnSpc>
                          <a:spcPct val="100000"/>
                        </a:lnSpc>
                      </a:pPr>
                      <a:endParaRPr sz="2500">
                        <a:latin typeface="Times New Roman"/>
                        <a:cs typeface="Times New Roman"/>
                      </a:endParaRPr>
                    </a:p>
                  </a:txBody>
                  <a:tcPr marL="0" marR="0" marT="0" marB="0"/>
                </a:tc>
                <a:extLst>
                  <a:ext uri="{0D108BD9-81ED-4DB2-BD59-A6C34878D82A}">
                    <a16:rowId xmlns:a16="http://schemas.microsoft.com/office/drawing/2014/main" val="10002"/>
                  </a:ext>
                </a:extLst>
              </a:tr>
              <a:tr h="392430">
                <a:tc>
                  <a:txBody>
                    <a:bodyPr/>
                    <a:lstStyle/>
                    <a:p>
                      <a:pPr marR="64769" algn="ctr">
                        <a:lnSpc>
                          <a:spcPts val="2995"/>
                        </a:lnSpc>
                      </a:pPr>
                      <a:r>
                        <a:rPr sz="2750" spc="-10" dirty="0">
                          <a:latin typeface="Arial MT"/>
                          <a:cs typeface="Arial MT"/>
                        </a:rPr>
                        <a:t>Study</a:t>
                      </a:r>
                      <a:endParaRPr sz="2750">
                        <a:latin typeface="Arial MT"/>
                        <a:cs typeface="Arial MT"/>
                      </a:endParaRPr>
                    </a:p>
                  </a:txBody>
                  <a:tcPr marL="0" marR="0" marT="0" marB="0"/>
                </a:tc>
                <a:tc>
                  <a:txBody>
                    <a:bodyPr/>
                    <a:lstStyle/>
                    <a:p>
                      <a:pPr marR="276860" algn="ctr">
                        <a:lnSpc>
                          <a:spcPts val="2995"/>
                        </a:lnSpc>
                      </a:pPr>
                      <a:r>
                        <a:rPr sz="2750" spc="-10" dirty="0">
                          <a:latin typeface="Arial MT"/>
                          <a:cs typeface="Arial MT"/>
                        </a:rPr>
                        <a:t>Design</a:t>
                      </a:r>
                      <a:endParaRPr sz="2750">
                        <a:latin typeface="Arial MT"/>
                        <a:cs typeface="Arial MT"/>
                      </a:endParaRPr>
                    </a:p>
                  </a:txBody>
                  <a:tcPr marL="0" marR="0" marT="0" marB="0"/>
                </a:tc>
                <a:tc>
                  <a:txBody>
                    <a:bodyPr/>
                    <a:lstStyle/>
                    <a:p>
                      <a:pPr marL="245745" algn="ctr">
                        <a:lnSpc>
                          <a:spcPts val="2995"/>
                        </a:lnSpc>
                      </a:pPr>
                      <a:r>
                        <a:rPr sz="2750" spc="-10" dirty="0">
                          <a:latin typeface="Arial MT"/>
                          <a:cs typeface="Arial MT"/>
                        </a:rPr>
                        <a:t>Setup</a:t>
                      </a:r>
                      <a:endParaRPr sz="2750">
                        <a:latin typeface="Arial MT"/>
                        <a:cs typeface="Arial MT"/>
                      </a:endParaRPr>
                    </a:p>
                  </a:txBody>
                  <a:tcPr marL="0" marR="0" marT="0" marB="0"/>
                </a:tc>
                <a:tc>
                  <a:txBody>
                    <a:bodyPr/>
                    <a:lstStyle/>
                    <a:p>
                      <a:pPr>
                        <a:lnSpc>
                          <a:spcPct val="100000"/>
                        </a:lnSpc>
                      </a:pPr>
                      <a:endParaRPr sz="2500">
                        <a:latin typeface="Times New Roman"/>
                        <a:cs typeface="Times New Roman"/>
                      </a:endParaRPr>
                    </a:p>
                  </a:txBody>
                  <a:tcPr marL="0" marR="0" marT="0" marB="0"/>
                </a:tc>
                <a:tc>
                  <a:txBody>
                    <a:bodyPr/>
                    <a:lstStyle/>
                    <a:p>
                      <a:pPr>
                        <a:lnSpc>
                          <a:spcPct val="100000"/>
                        </a:lnSpc>
                      </a:pPr>
                      <a:endParaRPr sz="2500">
                        <a:latin typeface="Times New Roman"/>
                        <a:cs typeface="Times New Roman"/>
                      </a:endParaRPr>
                    </a:p>
                  </a:txBody>
                  <a:tcPr marL="0" marR="0" marT="0" marB="0"/>
                </a:tc>
                <a:tc>
                  <a:txBody>
                    <a:bodyPr/>
                    <a:lstStyle/>
                    <a:p>
                      <a:pPr marL="243840" algn="ctr">
                        <a:lnSpc>
                          <a:spcPts val="2995"/>
                        </a:lnSpc>
                      </a:pPr>
                      <a:r>
                        <a:rPr sz="2750" spc="-10" dirty="0">
                          <a:latin typeface="Arial MT"/>
                          <a:cs typeface="Arial MT"/>
                        </a:rPr>
                        <a:t>Optimization</a:t>
                      </a:r>
                      <a:endParaRPr sz="2750">
                        <a:latin typeface="Arial MT"/>
                        <a:cs typeface="Arial MT"/>
                      </a:endParaRPr>
                    </a:p>
                  </a:txBody>
                  <a:tcPr marL="0" marR="0" marT="0" marB="0"/>
                </a:tc>
                <a:tc>
                  <a:txBody>
                    <a:bodyPr/>
                    <a:lstStyle/>
                    <a:p>
                      <a:pPr>
                        <a:lnSpc>
                          <a:spcPct val="100000"/>
                        </a:lnSpc>
                      </a:pPr>
                      <a:endParaRPr sz="2500">
                        <a:latin typeface="Times New Roman"/>
                        <a:cs typeface="Times New Roman"/>
                      </a:endParaRPr>
                    </a:p>
                  </a:txBody>
                  <a:tcPr marL="0" marR="0"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00174" y="3331631"/>
            <a:ext cx="133350" cy="133349"/>
          </a:xfrm>
          <a:prstGeom prst="rect">
            <a:avLst/>
          </a:prstGeom>
        </p:spPr>
      </p:pic>
      <p:pic>
        <p:nvPicPr>
          <p:cNvPr id="3" name="object 3"/>
          <p:cNvPicPr/>
          <p:nvPr/>
        </p:nvPicPr>
        <p:blipFill>
          <a:blip r:embed="rId3" cstate="print"/>
          <a:stretch>
            <a:fillRect/>
          </a:stretch>
        </p:blipFill>
        <p:spPr>
          <a:xfrm>
            <a:off x="1400174" y="5503331"/>
            <a:ext cx="133350" cy="133349"/>
          </a:xfrm>
          <a:prstGeom prst="rect">
            <a:avLst/>
          </a:prstGeom>
        </p:spPr>
      </p:pic>
      <p:pic>
        <p:nvPicPr>
          <p:cNvPr id="4" name="object 4"/>
          <p:cNvPicPr/>
          <p:nvPr/>
        </p:nvPicPr>
        <p:blipFill>
          <a:blip r:embed="rId4" cstate="print"/>
          <a:stretch>
            <a:fillRect/>
          </a:stretch>
        </p:blipFill>
        <p:spPr>
          <a:xfrm>
            <a:off x="1400174" y="7675030"/>
            <a:ext cx="133350" cy="133349"/>
          </a:xfrm>
          <a:prstGeom prst="rect">
            <a:avLst/>
          </a:prstGeom>
        </p:spPr>
      </p:pic>
      <p:sp>
        <p:nvSpPr>
          <p:cNvPr id="5" name="object 5"/>
          <p:cNvSpPr txBox="1"/>
          <p:nvPr/>
        </p:nvSpPr>
        <p:spPr>
          <a:xfrm>
            <a:off x="1016000" y="1961923"/>
            <a:ext cx="15810230" cy="7626350"/>
          </a:xfrm>
          <a:prstGeom prst="rect">
            <a:avLst/>
          </a:prstGeom>
        </p:spPr>
        <p:txBody>
          <a:bodyPr vert="horz" wrap="square" lIns="0" tIns="12700" rIns="0" bIns="0" rtlCol="0">
            <a:spAutoFit/>
          </a:bodyPr>
          <a:lstStyle/>
          <a:p>
            <a:pPr marL="12700" marR="5080">
              <a:lnSpc>
                <a:spcPct val="111300"/>
              </a:lnSpc>
              <a:spcBef>
                <a:spcPts val="100"/>
              </a:spcBef>
            </a:pPr>
            <a:r>
              <a:rPr sz="3200" spc="175" dirty="0">
                <a:latin typeface="Tahoma"/>
                <a:cs typeface="Tahoma"/>
              </a:rPr>
              <a:t>This</a:t>
            </a:r>
            <a:r>
              <a:rPr sz="3200" spc="245" dirty="0">
                <a:latin typeface="Tahoma"/>
                <a:cs typeface="Tahoma"/>
              </a:rPr>
              <a:t> </a:t>
            </a:r>
            <a:r>
              <a:rPr sz="3200" spc="254" dirty="0">
                <a:latin typeface="Tahoma"/>
                <a:cs typeface="Tahoma"/>
              </a:rPr>
              <a:t>AI-</a:t>
            </a:r>
            <a:r>
              <a:rPr sz="3200" spc="235" dirty="0">
                <a:latin typeface="Tahoma"/>
                <a:cs typeface="Tahoma"/>
              </a:rPr>
              <a:t>driven</a:t>
            </a:r>
            <a:r>
              <a:rPr sz="3200" spc="245" dirty="0">
                <a:latin typeface="Tahoma"/>
                <a:cs typeface="Tahoma"/>
              </a:rPr>
              <a:t> </a:t>
            </a:r>
            <a:r>
              <a:rPr sz="3200" spc="260" dirty="0">
                <a:latin typeface="Tahoma"/>
                <a:cs typeface="Tahoma"/>
              </a:rPr>
              <a:t>mesh</a:t>
            </a:r>
            <a:r>
              <a:rPr sz="3200" spc="245" dirty="0">
                <a:latin typeface="Tahoma"/>
                <a:cs typeface="Tahoma"/>
              </a:rPr>
              <a:t> </a:t>
            </a:r>
            <a:r>
              <a:rPr sz="3200" spc="235" dirty="0">
                <a:latin typeface="Tahoma"/>
                <a:cs typeface="Tahoma"/>
              </a:rPr>
              <a:t>network</a:t>
            </a:r>
            <a:r>
              <a:rPr sz="3200" spc="245" dirty="0">
                <a:latin typeface="Tahoma"/>
                <a:cs typeface="Tahoma"/>
              </a:rPr>
              <a:t> </a:t>
            </a:r>
            <a:r>
              <a:rPr sz="3200" spc="210" dirty="0">
                <a:latin typeface="Tahoma"/>
                <a:cs typeface="Tahoma"/>
              </a:rPr>
              <a:t>has</a:t>
            </a:r>
            <a:r>
              <a:rPr sz="3200" spc="245" dirty="0">
                <a:latin typeface="Tahoma"/>
                <a:cs typeface="Tahoma"/>
              </a:rPr>
              <a:t> </a:t>
            </a:r>
            <a:r>
              <a:rPr sz="3200" spc="250" dirty="0">
                <a:latin typeface="Tahoma"/>
                <a:cs typeface="Tahoma"/>
              </a:rPr>
              <a:t>significant </a:t>
            </a:r>
            <a:r>
              <a:rPr sz="3200" spc="240" dirty="0">
                <a:latin typeface="Tahoma"/>
                <a:cs typeface="Tahoma"/>
              </a:rPr>
              <a:t>market</a:t>
            </a:r>
            <a:r>
              <a:rPr sz="3200" spc="245" dirty="0">
                <a:latin typeface="Tahoma"/>
                <a:cs typeface="Tahoma"/>
              </a:rPr>
              <a:t> </a:t>
            </a:r>
            <a:r>
              <a:rPr sz="3200" spc="265" dirty="0">
                <a:latin typeface="Tahoma"/>
                <a:cs typeface="Tahoma"/>
              </a:rPr>
              <a:t>potential</a:t>
            </a:r>
            <a:r>
              <a:rPr sz="3200" spc="245" dirty="0">
                <a:latin typeface="Tahoma"/>
                <a:cs typeface="Tahoma"/>
              </a:rPr>
              <a:t> </a:t>
            </a:r>
            <a:r>
              <a:rPr sz="3200" spc="315" dirty="0">
                <a:latin typeface="Tahoma"/>
                <a:cs typeface="Tahoma"/>
              </a:rPr>
              <a:t>beyond</a:t>
            </a:r>
            <a:r>
              <a:rPr sz="3200" spc="245" dirty="0">
                <a:latin typeface="Tahoma"/>
                <a:cs typeface="Tahoma"/>
              </a:rPr>
              <a:t> </a:t>
            </a:r>
            <a:r>
              <a:rPr sz="3200" spc="165" dirty="0">
                <a:latin typeface="Tahoma"/>
                <a:cs typeface="Tahoma"/>
              </a:rPr>
              <a:t>naval </a:t>
            </a:r>
            <a:r>
              <a:rPr sz="3200" spc="215" dirty="0">
                <a:latin typeface="Tahoma"/>
                <a:cs typeface="Tahoma"/>
              </a:rPr>
              <a:t>defense,</a:t>
            </a:r>
            <a:r>
              <a:rPr sz="3200" spc="245" dirty="0">
                <a:latin typeface="Tahoma"/>
                <a:cs typeface="Tahoma"/>
              </a:rPr>
              <a:t> </a:t>
            </a:r>
            <a:r>
              <a:rPr sz="3200" spc="210" dirty="0">
                <a:latin typeface="Tahoma"/>
                <a:cs typeface="Tahoma"/>
              </a:rPr>
              <a:t>offering</a:t>
            </a:r>
            <a:r>
              <a:rPr sz="3200" spc="245" dirty="0">
                <a:latin typeface="Tahoma"/>
                <a:cs typeface="Tahoma"/>
              </a:rPr>
              <a:t> </a:t>
            </a:r>
            <a:r>
              <a:rPr sz="3200" spc="50" dirty="0">
                <a:latin typeface="Tahoma"/>
                <a:cs typeface="Tahoma"/>
              </a:rPr>
              <a:t>a</a:t>
            </a:r>
            <a:r>
              <a:rPr sz="3200" spc="245" dirty="0">
                <a:latin typeface="Tahoma"/>
                <a:cs typeface="Tahoma"/>
              </a:rPr>
              <a:t> </a:t>
            </a:r>
            <a:r>
              <a:rPr sz="3200" spc="450" dirty="0">
                <a:latin typeface="Tahoma"/>
                <a:cs typeface="Tahoma"/>
              </a:rPr>
              <a:t>cost-</a:t>
            </a:r>
            <a:r>
              <a:rPr sz="3200" spc="280" dirty="0">
                <a:latin typeface="Tahoma"/>
                <a:cs typeface="Tahoma"/>
              </a:rPr>
              <a:t>effective</a:t>
            </a:r>
            <a:r>
              <a:rPr sz="3200" spc="245" dirty="0">
                <a:latin typeface="Tahoma"/>
                <a:cs typeface="Tahoma"/>
              </a:rPr>
              <a:t> </a:t>
            </a:r>
            <a:r>
              <a:rPr sz="3200" spc="240" dirty="0">
                <a:latin typeface="Tahoma"/>
                <a:cs typeface="Tahoma"/>
              </a:rPr>
              <a:t>alternative</a:t>
            </a:r>
            <a:r>
              <a:rPr sz="3200" spc="245" dirty="0">
                <a:latin typeface="Tahoma"/>
                <a:cs typeface="Tahoma"/>
              </a:rPr>
              <a:t> </a:t>
            </a:r>
            <a:r>
              <a:rPr sz="3200" spc="250" dirty="0">
                <a:latin typeface="Tahoma"/>
                <a:cs typeface="Tahoma"/>
              </a:rPr>
              <a:t>to satellite</a:t>
            </a:r>
            <a:r>
              <a:rPr sz="3200" spc="245" dirty="0">
                <a:latin typeface="Tahoma"/>
                <a:cs typeface="Tahoma"/>
              </a:rPr>
              <a:t> </a:t>
            </a:r>
            <a:r>
              <a:rPr sz="3200" spc="265" dirty="0">
                <a:latin typeface="Tahoma"/>
                <a:cs typeface="Tahoma"/>
              </a:rPr>
              <a:t>communications.</a:t>
            </a:r>
            <a:endParaRPr sz="3200">
              <a:latin typeface="Tahoma"/>
              <a:cs typeface="Tahoma"/>
            </a:endParaRPr>
          </a:p>
          <a:p>
            <a:pPr marL="702945" marR="705485">
              <a:lnSpc>
                <a:spcPct val="111300"/>
              </a:lnSpc>
            </a:pPr>
            <a:r>
              <a:rPr sz="3200" spc="305" dirty="0">
                <a:latin typeface="Tahoma"/>
                <a:cs typeface="Tahoma"/>
              </a:rPr>
              <a:t>Dual-</a:t>
            </a:r>
            <a:r>
              <a:rPr sz="3200" spc="215" dirty="0">
                <a:latin typeface="Tahoma"/>
                <a:cs typeface="Tahoma"/>
              </a:rPr>
              <a:t>Use</a:t>
            </a:r>
            <a:r>
              <a:rPr sz="3200" spc="240" dirty="0">
                <a:latin typeface="Tahoma"/>
                <a:cs typeface="Tahoma"/>
              </a:rPr>
              <a:t> </a:t>
            </a:r>
            <a:r>
              <a:rPr sz="3200" spc="254" dirty="0">
                <a:latin typeface="Tahoma"/>
                <a:cs typeface="Tahoma"/>
              </a:rPr>
              <a:t>Applications:</a:t>
            </a:r>
            <a:r>
              <a:rPr sz="3200" spc="245" dirty="0">
                <a:latin typeface="Tahoma"/>
                <a:cs typeface="Tahoma"/>
              </a:rPr>
              <a:t> </a:t>
            </a:r>
            <a:r>
              <a:rPr sz="3200" spc="145" dirty="0">
                <a:latin typeface="Tahoma"/>
                <a:cs typeface="Tahoma"/>
              </a:rPr>
              <a:t>The</a:t>
            </a:r>
            <a:r>
              <a:rPr sz="3200" spc="240" dirty="0">
                <a:latin typeface="Tahoma"/>
                <a:cs typeface="Tahoma"/>
              </a:rPr>
              <a:t> </a:t>
            </a:r>
            <a:r>
              <a:rPr sz="3200" spc="315" dirty="0">
                <a:latin typeface="Tahoma"/>
                <a:cs typeface="Tahoma"/>
              </a:rPr>
              <a:t>system</a:t>
            </a:r>
            <a:r>
              <a:rPr sz="3200" spc="245" dirty="0">
                <a:latin typeface="Tahoma"/>
                <a:cs typeface="Tahoma"/>
              </a:rPr>
              <a:t> </a:t>
            </a:r>
            <a:r>
              <a:rPr sz="3200" spc="190" dirty="0">
                <a:latin typeface="Tahoma"/>
                <a:cs typeface="Tahoma"/>
              </a:rPr>
              <a:t>is</a:t>
            </a:r>
            <a:r>
              <a:rPr sz="3200" spc="240" dirty="0">
                <a:latin typeface="Tahoma"/>
                <a:cs typeface="Tahoma"/>
              </a:rPr>
              <a:t> </a:t>
            </a:r>
            <a:r>
              <a:rPr sz="3200" spc="229" dirty="0">
                <a:latin typeface="Tahoma"/>
                <a:cs typeface="Tahoma"/>
              </a:rPr>
              <a:t>ideal</a:t>
            </a:r>
            <a:r>
              <a:rPr sz="3200" spc="245" dirty="0">
                <a:latin typeface="Tahoma"/>
                <a:cs typeface="Tahoma"/>
              </a:rPr>
              <a:t> </a:t>
            </a:r>
            <a:r>
              <a:rPr sz="3200" spc="190" dirty="0">
                <a:latin typeface="Tahoma"/>
                <a:cs typeface="Tahoma"/>
              </a:rPr>
              <a:t>for</a:t>
            </a:r>
            <a:r>
              <a:rPr sz="3200" spc="245" dirty="0">
                <a:latin typeface="Tahoma"/>
                <a:cs typeface="Tahoma"/>
              </a:rPr>
              <a:t> </a:t>
            </a:r>
            <a:r>
              <a:rPr sz="3200" spc="280" dirty="0">
                <a:latin typeface="Tahoma"/>
                <a:cs typeface="Tahoma"/>
              </a:rPr>
              <a:t>disaster</a:t>
            </a:r>
            <a:r>
              <a:rPr sz="3200" spc="240" dirty="0">
                <a:latin typeface="Tahoma"/>
                <a:cs typeface="Tahoma"/>
              </a:rPr>
              <a:t> </a:t>
            </a:r>
            <a:r>
              <a:rPr sz="3200" spc="245" dirty="0">
                <a:latin typeface="Tahoma"/>
                <a:cs typeface="Tahoma"/>
              </a:rPr>
              <a:t>management </a:t>
            </a:r>
            <a:r>
              <a:rPr sz="3200" spc="229" dirty="0">
                <a:latin typeface="Tahoma"/>
                <a:cs typeface="Tahoma"/>
              </a:rPr>
              <a:t>and</a:t>
            </a:r>
            <a:r>
              <a:rPr sz="3200" spc="240" dirty="0">
                <a:latin typeface="Tahoma"/>
                <a:cs typeface="Tahoma"/>
              </a:rPr>
              <a:t> </a:t>
            </a:r>
            <a:r>
              <a:rPr sz="3200" spc="275" dirty="0">
                <a:latin typeface="Tahoma"/>
                <a:cs typeface="Tahoma"/>
              </a:rPr>
              <a:t>search</a:t>
            </a:r>
            <a:r>
              <a:rPr sz="3200" spc="240" dirty="0">
                <a:latin typeface="Tahoma"/>
                <a:cs typeface="Tahoma"/>
              </a:rPr>
              <a:t> </a:t>
            </a:r>
            <a:r>
              <a:rPr sz="3200" spc="229" dirty="0">
                <a:latin typeface="Tahoma"/>
                <a:cs typeface="Tahoma"/>
              </a:rPr>
              <a:t>and</a:t>
            </a:r>
            <a:r>
              <a:rPr sz="3200" spc="245" dirty="0">
                <a:latin typeface="Tahoma"/>
                <a:cs typeface="Tahoma"/>
              </a:rPr>
              <a:t> </a:t>
            </a:r>
            <a:r>
              <a:rPr sz="3200" spc="290" dirty="0">
                <a:latin typeface="Tahoma"/>
                <a:cs typeface="Tahoma"/>
              </a:rPr>
              <a:t>rescue</a:t>
            </a:r>
            <a:r>
              <a:rPr sz="3200" spc="240" dirty="0">
                <a:latin typeface="Tahoma"/>
                <a:cs typeface="Tahoma"/>
              </a:rPr>
              <a:t> operations.</a:t>
            </a:r>
            <a:r>
              <a:rPr sz="3200" spc="245" dirty="0">
                <a:latin typeface="Tahoma"/>
                <a:cs typeface="Tahoma"/>
              </a:rPr>
              <a:t> </a:t>
            </a:r>
            <a:r>
              <a:rPr sz="3200" spc="240" dirty="0">
                <a:latin typeface="Tahoma"/>
                <a:cs typeface="Tahoma"/>
              </a:rPr>
              <a:t>When </a:t>
            </a:r>
            <a:r>
              <a:rPr sz="3200" spc="220" dirty="0">
                <a:latin typeface="Tahoma"/>
                <a:cs typeface="Tahoma"/>
              </a:rPr>
              <a:t>cellular</a:t>
            </a:r>
            <a:r>
              <a:rPr sz="3200" spc="245" dirty="0">
                <a:latin typeface="Tahoma"/>
                <a:cs typeface="Tahoma"/>
              </a:rPr>
              <a:t> </a:t>
            </a:r>
            <a:r>
              <a:rPr sz="3200" spc="265" dirty="0">
                <a:latin typeface="Tahoma"/>
                <a:cs typeface="Tahoma"/>
              </a:rPr>
              <a:t>towers</a:t>
            </a:r>
            <a:r>
              <a:rPr sz="3200" spc="240" dirty="0">
                <a:latin typeface="Tahoma"/>
                <a:cs typeface="Tahoma"/>
              </a:rPr>
              <a:t> </a:t>
            </a:r>
            <a:r>
              <a:rPr sz="3200" spc="160" dirty="0">
                <a:latin typeface="Tahoma"/>
                <a:cs typeface="Tahoma"/>
              </a:rPr>
              <a:t>fail</a:t>
            </a:r>
            <a:r>
              <a:rPr sz="3200" spc="240" dirty="0">
                <a:latin typeface="Tahoma"/>
                <a:cs typeface="Tahoma"/>
              </a:rPr>
              <a:t> </a:t>
            </a:r>
            <a:r>
              <a:rPr sz="3200" spc="200" dirty="0">
                <a:latin typeface="Tahoma"/>
                <a:cs typeface="Tahoma"/>
              </a:rPr>
              <a:t>during</a:t>
            </a:r>
            <a:endParaRPr sz="3200">
              <a:latin typeface="Tahoma"/>
              <a:cs typeface="Tahoma"/>
            </a:endParaRPr>
          </a:p>
          <a:p>
            <a:pPr marL="702945">
              <a:lnSpc>
                <a:spcPct val="100000"/>
              </a:lnSpc>
              <a:spcBef>
                <a:spcPts val="434"/>
              </a:spcBef>
            </a:pPr>
            <a:r>
              <a:rPr sz="3200" spc="275" dirty="0">
                <a:latin typeface="Tahoma"/>
                <a:cs typeface="Tahoma"/>
              </a:rPr>
              <a:t>floods</a:t>
            </a:r>
            <a:r>
              <a:rPr sz="3200" spc="240" dirty="0">
                <a:latin typeface="Tahoma"/>
                <a:cs typeface="Tahoma"/>
              </a:rPr>
              <a:t> </a:t>
            </a:r>
            <a:r>
              <a:rPr sz="3200" spc="175" dirty="0">
                <a:latin typeface="Tahoma"/>
                <a:cs typeface="Tahoma"/>
              </a:rPr>
              <a:t>or</a:t>
            </a:r>
            <a:r>
              <a:rPr sz="3200" spc="240" dirty="0">
                <a:latin typeface="Tahoma"/>
                <a:cs typeface="Tahoma"/>
              </a:rPr>
              <a:t> </a:t>
            </a:r>
            <a:r>
              <a:rPr sz="3200" spc="210" dirty="0">
                <a:latin typeface="Tahoma"/>
                <a:cs typeface="Tahoma"/>
              </a:rPr>
              <a:t>hurricanes,</a:t>
            </a:r>
            <a:r>
              <a:rPr sz="3200" spc="245" dirty="0">
                <a:latin typeface="Tahoma"/>
                <a:cs typeface="Tahoma"/>
              </a:rPr>
              <a:t> </a:t>
            </a:r>
            <a:r>
              <a:rPr sz="3200" spc="240" dirty="0">
                <a:latin typeface="Tahoma"/>
                <a:cs typeface="Tahoma"/>
              </a:rPr>
              <a:t>this </a:t>
            </a:r>
            <a:r>
              <a:rPr sz="3200" spc="340" dirty="0">
                <a:latin typeface="Tahoma"/>
                <a:cs typeface="Tahoma"/>
              </a:rPr>
              <a:t>self-</a:t>
            </a:r>
            <a:r>
              <a:rPr sz="3200" spc="190" dirty="0">
                <a:latin typeface="Tahoma"/>
                <a:cs typeface="Tahoma"/>
              </a:rPr>
              <a:t>healing</a:t>
            </a:r>
            <a:r>
              <a:rPr sz="3200" spc="245" dirty="0">
                <a:latin typeface="Tahoma"/>
                <a:cs typeface="Tahoma"/>
              </a:rPr>
              <a:t> </a:t>
            </a:r>
            <a:r>
              <a:rPr sz="3200" spc="235" dirty="0">
                <a:latin typeface="Tahoma"/>
                <a:cs typeface="Tahoma"/>
              </a:rPr>
              <a:t>network</a:t>
            </a:r>
            <a:r>
              <a:rPr sz="3200" spc="240" dirty="0">
                <a:latin typeface="Tahoma"/>
                <a:cs typeface="Tahoma"/>
              </a:rPr>
              <a:t> </a:t>
            </a:r>
            <a:r>
              <a:rPr sz="3200" spc="265" dirty="0">
                <a:latin typeface="Tahoma"/>
                <a:cs typeface="Tahoma"/>
              </a:rPr>
              <a:t>can</a:t>
            </a:r>
            <a:r>
              <a:rPr sz="3200" spc="245" dirty="0">
                <a:latin typeface="Tahoma"/>
                <a:cs typeface="Tahoma"/>
              </a:rPr>
              <a:t> </a:t>
            </a:r>
            <a:r>
              <a:rPr sz="3200" spc="265" dirty="0">
                <a:latin typeface="Tahoma"/>
                <a:cs typeface="Tahoma"/>
              </a:rPr>
              <a:t>be</a:t>
            </a:r>
            <a:r>
              <a:rPr sz="3200" spc="240" dirty="0">
                <a:latin typeface="Tahoma"/>
                <a:cs typeface="Tahoma"/>
              </a:rPr>
              <a:t> </a:t>
            </a:r>
            <a:r>
              <a:rPr sz="3200" spc="245" dirty="0">
                <a:latin typeface="Tahoma"/>
                <a:cs typeface="Tahoma"/>
              </a:rPr>
              <a:t>instantly</a:t>
            </a:r>
            <a:endParaRPr sz="3200">
              <a:latin typeface="Tahoma"/>
              <a:cs typeface="Tahoma"/>
            </a:endParaRPr>
          </a:p>
          <a:p>
            <a:pPr marL="702945">
              <a:lnSpc>
                <a:spcPct val="100000"/>
              </a:lnSpc>
              <a:spcBef>
                <a:spcPts val="434"/>
              </a:spcBef>
            </a:pPr>
            <a:r>
              <a:rPr sz="3200" spc="320" dirty="0">
                <a:latin typeface="Tahoma"/>
                <a:cs typeface="Tahoma"/>
              </a:rPr>
              <a:t>deployed</a:t>
            </a:r>
            <a:r>
              <a:rPr sz="3200" spc="235" dirty="0">
                <a:latin typeface="Tahoma"/>
                <a:cs typeface="Tahoma"/>
              </a:rPr>
              <a:t> </a:t>
            </a:r>
            <a:r>
              <a:rPr sz="3200" spc="250" dirty="0">
                <a:latin typeface="Tahoma"/>
                <a:cs typeface="Tahoma"/>
              </a:rPr>
              <a:t>to</a:t>
            </a:r>
            <a:r>
              <a:rPr sz="3200" spc="240" dirty="0">
                <a:latin typeface="Tahoma"/>
                <a:cs typeface="Tahoma"/>
              </a:rPr>
              <a:t> </a:t>
            </a:r>
            <a:r>
              <a:rPr sz="3200" spc="315" dirty="0">
                <a:latin typeface="Tahoma"/>
                <a:cs typeface="Tahoma"/>
              </a:rPr>
              <a:t>reconnect</a:t>
            </a:r>
            <a:r>
              <a:rPr sz="3200" spc="235" dirty="0">
                <a:latin typeface="Tahoma"/>
                <a:cs typeface="Tahoma"/>
              </a:rPr>
              <a:t> </a:t>
            </a:r>
            <a:r>
              <a:rPr sz="3200" spc="229" dirty="0">
                <a:latin typeface="Tahoma"/>
                <a:cs typeface="Tahoma"/>
              </a:rPr>
              <a:t>first</a:t>
            </a:r>
            <a:r>
              <a:rPr sz="3200" spc="240" dirty="0">
                <a:latin typeface="Tahoma"/>
                <a:cs typeface="Tahoma"/>
              </a:rPr>
              <a:t> </a:t>
            </a:r>
            <a:r>
              <a:rPr sz="3200" spc="295" dirty="0">
                <a:latin typeface="Tahoma"/>
                <a:cs typeface="Tahoma"/>
              </a:rPr>
              <a:t>responders</a:t>
            </a:r>
            <a:r>
              <a:rPr sz="3200" spc="240" dirty="0">
                <a:latin typeface="Tahoma"/>
                <a:cs typeface="Tahoma"/>
              </a:rPr>
              <a:t> </a:t>
            </a:r>
            <a:r>
              <a:rPr sz="3200" spc="229" dirty="0">
                <a:latin typeface="Tahoma"/>
                <a:cs typeface="Tahoma"/>
              </a:rPr>
              <a:t>and</a:t>
            </a:r>
            <a:r>
              <a:rPr sz="3200" spc="235" dirty="0">
                <a:latin typeface="Tahoma"/>
                <a:cs typeface="Tahoma"/>
              </a:rPr>
              <a:t> </a:t>
            </a:r>
            <a:r>
              <a:rPr sz="3200" spc="275" dirty="0">
                <a:latin typeface="Tahoma"/>
                <a:cs typeface="Tahoma"/>
              </a:rPr>
              <a:t>drones</a:t>
            </a:r>
            <a:r>
              <a:rPr sz="3200" spc="240" dirty="0">
                <a:latin typeface="Tahoma"/>
                <a:cs typeface="Tahoma"/>
              </a:rPr>
              <a:t> </a:t>
            </a:r>
            <a:r>
              <a:rPr sz="3200" spc="120" dirty="0">
                <a:latin typeface="Tahoma"/>
                <a:cs typeface="Tahoma"/>
              </a:rPr>
              <a:t>in</a:t>
            </a:r>
            <a:r>
              <a:rPr sz="3200" spc="235" dirty="0">
                <a:latin typeface="Tahoma"/>
                <a:cs typeface="Tahoma"/>
              </a:rPr>
              <a:t> </a:t>
            </a:r>
            <a:r>
              <a:rPr sz="3200" spc="200" dirty="0">
                <a:latin typeface="Tahoma"/>
                <a:cs typeface="Tahoma"/>
              </a:rPr>
              <a:t>"dead</a:t>
            </a:r>
            <a:r>
              <a:rPr sz="3200" spc="240" dirty="0">
                <a:latin typeface="Tahoma"/>
                <a:cs typeface="Tahoma"/>
              </a:rPr>
              <a:t> </a:t>
            </a:r>
            <a:r>
              <a:rPr sz="3200" spc="114" dirty="0">
                <a:latin typeface="Tahoma"/>
                <a:cs typeface="Tahoma"/>
              </a:rPr>
              <a:t>zones."</a:t>
            </a:r>
            <a:endParaRPr sz="3200">
              <a:latin typeface="Tahoma"/>
              <a:cs typeface="Tahoma"/>
            </a:endParaRPr>
          </a:p>
          <a:p>
            <a:pPr marL="702945">
              <a:lnSpc>
                <a:spcPct val="100000"/>
              </a:lnSpc>
              <a:spcBef>
                <a:spcPts val="434"/>
              </a:spcBef>
            </a:pPr>
            <a:r>
              <a:rPr sz="3200" spc="235" dirty="0">
                <a:latin typeface="Tahoma"/>
                <a:cs typeface="Tahoma"/>
              </a:rPr>
              <a:t>Civilian</a:t>
            </a:r>
            <a:r>
              <a:rPr sz="3200" spc="229" dirty="0">
                <a:latin typeface="Tahoma"/>
                <a:cs typeface="Tahoma"/>
              </a:rPr>
              <a:t> </a:t>
            </a:r>
            <a:r>
              <a:rPr sz="3200" spc="170" dirty="0">
                <a:latin typeface="Tahoma"/>
                <a:cs typeface="Tahoma"/>
              </a:rPr>
              <a:t>&amp;</a:t>
            </a:r>
            <a:r>
              <a:rPr sz="3200" spc="229" dirty="0">
                <a:latin typeface="Tahoma"/>
                <a:cs typeface="Tahoma"/>
              </a:rPr>
              <a:t> </a:t>
            </a:r>
            <a:r>
              <a:rPr sz="3200" spc="190" dirty="0">
                <a:latin typeface="Tahoma"/>
                <a:cs typeface="Tahoma"/>
              </a:rPr>
              <a:t>Industrial</a:t>
            </a:r>
            <a:r>
              <a:rPr sz="3200" spc="235" dirty="0">
                <a:latin typeface="Tahoma"/>
                <a:cs typeface="Tahoma"/>
              </a:rPr>
              <a:t> </a:t>
            </a:r>
            <a:r>
              <a:rPr sz="3200" spc="155" dirty="0">
                <a:latin typeface="Tahoma"/>
                <a:cs typeface="Tahoma"/>
              </a:rPr>
              <a:t>Scaling:</a:t>
            </a:r>
            <a:r>
              <a:rPr sz="3200" spc="229" dirty="0">
                <a:latin typeface="Tahoma"/>
                <a:cs typeface="Tahoma"/>
              </a:rPr>
              <a:t> </a:t>
            </a:r>
            <a:r>
              <a:rPr sz="3200" dirty="0">
                <a:latin typeface="Tahoma"/>
                <a:cs typeface="Tahoma"/>
              </a:rPr>
              <a:t>It</a:t>
            </a:r>
            <a:r>
              <a:rPr sz="3200" spc="235" dirty="0">
                <a:latin typeface="Tahoma"/>
                <a:cs typeface="Tahoma"/>
              </a:rPr>
              <a:t> </a:t>
            </a:r>
            <a:r>
              <a:rPr sz="3200" spc="240" dirty="0">
                <a:latin typeface="Tahoma"/>
                <a:cs typeface="Tahoma"/>
              </a:rPr>
              <a:t>offers</a:t>
            </a:r>
            <a:r>
              <a:rPr sz="3200" spc="229" dirty="0">
                <a:latin typeface="Tahoma"/>
                <a:cs typeface="Tahoma"/>
              </a:rPr>
              <a:t> </a:t>
            </a:r>
            <a:r>
              <a:rPr sz="3200" spc="50" dirty="0">
                <a:latin typeface="Tahoma"/>
                <a:cs typeface="Tahoma"/>
              </a:rPr>
              <a:t>a</a:t>
            </a:r>
            <a:r>
              <a:rPr sz="3200" spc="235" dirty="0">
                <a:latin typeface="Tahoma"/>
                <a:cs typeface="Tahoma"/>
              </a:rPr>
              <a:t> </a:t>
            </a:r>
            <a:r>
              <a:rPr sz="3200" spc="220" dirty="0">
                <a:latin typeface="Tahoma"/>
                <a:cs typeface="Tahoma"/>
              </a:rPr>
              <a:t>scalable,</a:t>
            </a:r>
            <a:r>
              <a:rPr sz="3200" spc="229" dirty="0">
                <a:latin typeface="Tahoma"/>
                <a:cs typeface="Tahoma"/>
              </a:rPr>
              <a:t> </a:t>
            </a:r>
            <a:r>
              <a:rPr sz="3200" spc="345" dirty="0">
                <a:latin typeface="Tahoma"/>
                <a:cs typeface="Tahoma"/>
              </a:rPr>
              <a:t>low-</a:t>
            </a:r>
            <a:r>
              <a:rPr sz="3200" spc="325" dirty="0">
                <a:latin typeface="Tahoma"/>
                <a:cs typeface="Tahoma"/>
              </a:rPr>
              <a:t>cost</a:t>
            </a:r>
            <a:endParaRPr sz="3200">
              <a:latin typeface="Tahoma"/>
              <a:cs typeface="Tahoma"/>
            </a:endParaRPr>
          </a:p>
          <a:p>
            <a:pPr marL="702945" marR="267335">
              <a:lnSpc>
                <a:spcPct val="111300"/>
              </a:lnSpc>
            </a:pPr>
            <a:r>
              <a:rPr sz="3200" spc="300" dirty="0">
                <a:latin typeface="Tahoma"/>
                <a:cs typeface="Tahoma"/>
              </a:rPr>
              <a:t>communication</a:t>
            </a:r>
            <a:r>
              <a:rPr sz="3200" spc="245" dirty="0">
                <a:latin typeface="Tahoma"/>
                <a:cs typeface="Tahoma"/>
              </a:rPr>
              <a:t> </a:t>
            </a:r>
            <a:r>
              <a:rPr sz="3200" spc="310" dirty="0">
                <a:latin typeface="Tahoma"/>
                <a:cs typeface="Tahoma"/>
              </a:rPr>
              <a:t>backbone</a:t>
            </a:r>
            <a:r>
              <a:rPr sz="3200" spc="250" dirty="0">
                <a:latin typeface="Tahoma"/>
                <a:cs typeface="Tahoma"/>
              </a:rPr>
              <a:t> </a:t>
            </a:r>
            <a:r>
              <a:rPr sz="3200" spc="190" dirty="0">
                <a:latin typeface="Tahoma"/>
                <a:cs typeface="Tahoma"/>
              </a:rPr>
              <a:t>for</a:t>
            </a:r>
            <a:r>
              <a:rPr sz="3200" spc="250" dirty="0">
                <a:latin typeface="Tahoma"/>
                <a:cs typeface="Tahoma"/>
              </a:rPr>
              <a:t> </a:t>
            </a:r>
            <a:r>
              <a:rPr sz="3200" spc="254" dirty="0">
                <a:latin typeface="Tahoma"/>
                <a:cs typeface="Tahoma"/>
              </a:rPr>
              <a:t>offshore</a:t>
            </a:r>
            <a:r>
              <a:rPr sz="3200" spc="250" dirty="0">
                <a:latin typeface="Tahoma"/>
                <a:cs typeface="Tahoma"/>
              </a:rPr>
              <a:t> </a:t>
            </a:r>
            <a:r>
              <a:rPr sz="3200" spc="229" dirty="0">
                <a:latin typeface="Tahoma"/>
                <a:cs typeface="Tahoma"/>
              </a:rPr>
              <a:t>energy</a:t>
            </a:r>
            <a:r>
              <a:rPr sz="3200" spc="250" dirty="0">
                <a:latin typeface="Tahoma"/>
                <a:cs typeface="Tahoma"/>
              </a:rPr>
              <a:t> </a:t>
            </a:r>
            <a:r>
              <a:rPr sz="3200" spc="220" dirty="0">
                <a:latin typeface="Tahoma"/>
                <a:cs typeface="Tahoma"/>
              </a:rPr>
              <a:t>platforms,</a:t>
            </a:r>
            <a:r>
              <a:rPr sz="3200" spc="250" dirty="0">
                <a:latin typeface="Tahoma"/>
                <a:cs typeface="Tahoma"/>
              </a:rPr>
              <a:t> </a:t>
            </a:r>
            <a:r>
              <a:rPr sz="3200" spc="204" dirty="0">
                <a:latin typeface="Tahoma"/>
                <a:cs typeface="Tahoma"/>
              </a:rPr>
              <a:t>fishing</a:t>
            </a:r>
            <a:r>
              <a:rPr sz="3200" spc="250" dirty="0">
                <a:latin typeface="Tahoma"/>
                <a:cs typeface="Tahoma"/>
              </a:rPr>
              <a:t> </a:t>
            </a:r>
            <a:r>
              <a:rPr sz="3200" spc="175" dirty="0">
                <a:latin typeface="Tahoma"/>
                <a:cs typeface="Tahoma"/>
              </a:rPr>
              <a:t>fleets, </a:t>
            </a:r>
            <a:r>
              <a:rPr sz="3200" spc="229" dirty="0">
                <a:latin typeface="Tahoma"/>
                <a:cs typeface="Tahoma"/>
              </a:rPr>
              <a:t>and</a:t>
            </a:r>
            <a:r>
              <a:rPr sz="3200" spc="245" dirty="0">
                <a:latin typeface="Tahoma"/>
                <a:cs typeface="Tahoma"/>
              </a:rPr>
              <a:t> </a:t>
            </a:r>
            <a:r>
              <a:rPr sz="3200" spc="290" dirty="0">
                <a:latin typeface="Tahoma"/>
                <a:cs typeface="Tahoma"/>
              </a:rPr>
              <a:t>coastal</a:t>
            </a:r>
            <a:r>
              <a:rPr sz="3200" spc="250" dirty="0">
                <a:latin typeface="Tahoma"/>
                <a:cs typeface="Tahoma"/>
              </a:rPr>
              <a:t> </a:t>
            </a:r>
            <a:r>
              <a:rPr sz="3200" spc="210" dirty="0">
                <a:latin typeface="Tahoma"/>
                <a:cs typeface="Tahoma"/>
              </a:rPr>
              <a:t>surveillance,</a:t>
            </a:r>
            <a:r>
              <a:rPr sz="3200" spc="245" dirty="0">
                <a:latin typeface="Tahoma"/>
                <a:cs typeface="Tahoma"/>
              </a:rPr>
              <a:t> </a:t>
            </a:r>
            <a:r>
              <a:rPr sz="3200" spc="190" dirty="0">
                <a:latin typeface="Tahoma"/>
                <a:cs typeface="Tahoma"/>
              </a:rPr>
              <a:t>allowing</a:t>
            </a:r>
            <a:r>
              <a:rPr sz="3200" spc="250" dirty="0">
                <a:latin typeface="Tahoma"/>
                <a:cs typeface="Tahoma"/>
              </a:rPr>
              <a:t> </a:t>
            </a:r>
            <a:r>
              <a:rPr sz="3200" spc="270" dirty="0">
                <a:latin typeface="Tahoma"/>
                <a:cs typeface="Tahoma"/>
              </a:rPr>
              <a:t>vessels</a:t>
            </a:r>
            <a:r>
              <a:rPr sz="3200" spc="250" dirty="0">
                <a:latin typeface="Tahoma"/>
                <a:cs typeface="Tahoma"/>
              </a:rPr>
              <a:t> to</a:t>
            </a:r>
            <a:r>
              <a:rPr sz="3200" spc="245" dirty="0">
                <a:latin typeface="Tahoma"/>
                <a:cs typeface="Tahoma"/>
              </a:rPr>
              <a:t> </a:t>
            </a:r>
            <a:r>
              <a:rPr sz="3200" spc="225" dirty="0">
                <a:latin typeface="Tahoma"/>
                <a:cs typeface="Tahoma"/>
              </a:rPr>
              <a:t>share</a:t>
            </a:r>
            <a:r>
              <a:rPr sz="3200" spc="250" dirty="0">
                <a:latin typeface="Tahoma"/>
                <a:cs typeface="Tahoma"/>
              </a:rPr>
              <a:t> </a:t>
            </a:r>
            <a:r>
              <a:rPr sz="3200" spc="235" dirty="0">
                <a:latin typeface="Tahoma"/>
                <a:cs typeface="Tahoma"/>
              </a:rPr>
              <a:t>weather</a:t>
            </a:r>
            <a:r>
              <a:rPr sz="3200" spc="250" dirty="0">
                <a:latin typeface="Tahoma"/>
                <a:cs typeface="Tahoma"/>
              </a:rPr>
              <a:t> </a:t>
            </a:r>
            <a:r>
              <a:rPr sz="3200" spc="265" dirty="0">
                <a:latin typeface="Tahoma"/>
                <a:cs typeface="Tahoma"/>
              </a:rPr>
              <a:t>data</a:t>
            </a:r>
            <a:r>
              <a:rPr sz="3200" spc="245" dirty="0">
                <a:latin typeface="Tahoma"/>
                <a:cs typeface="Tahoma"/>
              </a:rPr>
              <a:t> </a:t>
            </a:r>
            <a:r>
              <a:rPr sz="3200" spc="204" dirty="0">
                <a:latin typeface="Tahoma"/>
                <a:cs typeface="Tahoma"/>
              </a:rPr>
              <a:t>and</a:t>
            </a:r>
            <a:endParaRPr sz="3200">
              <a:latin typeface="Tahoma"/>
              <a:cs typeface="Tahoma"/>
            </a:endParaRPr>
          </a:p>
          <a:p>
            <a:pPr marL="702945">
              <a:lnSpc>
                <a:spcPct val="100000"/>
              </a:lnSpc>
              <a:spcBef>
                <a:spcPts val="434"/>
              </a:spcBef>
            </a:pPr>
            <a:r>
              <a:rPr sz="3200" spc="295" dirty="0">
                <a:latin typeface="Tahoma"/>
                <a:cs typeface="Tahoma"/>
              </a:rPr>
              <a:t>distress</a:t>
            </a:r>
            <a:r>
              <a:rPr sz="3200" spc="245" dirty="0">
                <a:latin typeface="Tahoma"/>
                <a:cs typeface="Tahoma"/>
              </a:rPr>
              <a:t> </a:t>
            </a:r>
            <a:r>
              <a:rPr sz="3200" spc="220" dirty="0">
                <a:latin typeface="Tahoma"/>
                <a:cs typeface="Tahoma"/>
              </a:rPr>
              <a:t>signals</a:t>
            </a:r>
            <a:r>
              <a:rPr sz="3200" spc="245" dirty="0">
                <a:latin typeface="Tahoma"/>
                <a:cs typeface="Tahoma"/>
              </a:rPr>
              <a:t> without </a:t>
            </a:r>
            <a:r>
              <a:rPr sz="3200" spc="265" dirty="0">
                <a:latin typeface="Tahoma"/>
                <a:cs typeface="Tahoma"/>
              </a:rPr>
              <a:t>expensive</a:t>
            </a:r>
            <a:r>
              <a:rPr sz="3200" spc="245" dirty="0">
                <a:latin typeface="Tahoma"/>
                <a:cs typeface="Tahoma"/>
              </a:rPr>
              <a:t> </a:t>
            </a:r>
            <a:r>
              <a:rPr sz="3200" spc="250" dirty="0">
                <a:latin typeface="Tahoma"/>
                <a:cs typeface="Tahoma"/>
              </a:rPr>
              <a:t>satellite</a:t>
            </a:r>
            <a:r>
              <a:rPr sz="3200" spc="245" dirty="0">
                <a:latin typeface="Tahoma"/>
                <a:cs typeface="Tahoma"/>
              </a:rPr>
              <a:t> </a:t>
            </a:r>
            <a:r>
              <a:rPr sz="3200" spc="265" dirty="0">
                <a:latin typeface="Tahoma"/>
                <a:cs typeface="Tahoma"/>
              </a:rPr>
              <a:t>subscriptions.</a:t>
            </a:r>
            <a:endParaRPr sz="3200">
              <a:latin typeface="Tahoma"/>
              <a:cs typeface="Tahoma"/>
            </a:endParaRPr>
          </a:p>
          <a:p>
            <a:pPr marL="702945">
              <a:lnSpc>
                <a:spcPct val="100000"/>
              </a:lnSpc>
              <a:spcBef>
                <a:spcPts val="434"/>
              </a:spcBef>
            </a:pPr>
            <a:r>
              <a:rPr sz="3200" spc="225" dirty="0">
                <a:latin typeface="Tahoma"/>
                <a:cs typeface="Tahoma"/>
              </a:rPr>
              <a:t>Path</a:t>
            </a:r>
            <a:r>
              <a:rPr sz="3200" spc="235" dirty="0">
                <a:latin typeface="Tahoma"/>
                <a:cs typeface="Tahoma"/>
              </a:rPr>
              <a:t> </a:t>
            </a:r>
            <a:r>
              <a:rPr sz="3200" spc="250" dirty="0">
                <a:latin typeface="Tahoma"/>
                <a:cs typeface="Tahoma"/>
              </a:rPr>
              <a:t>to</a:t>
            </a:r>
            <a:r>
              <a:rPr sz="3200" spc="245" dirty="0">
                <a:latin typeface="Tahoma"/>
                <a:cs typeface="Tahoma"/>
              </a:rPr>
              <a:t> </a:t>
            </a:r>
            <a:r>
              <a:rPr sz="3200" spc="229" dirty="0">
                <a:latin typeface="Tahoma"/>
                <a:cs typeface="Tahoma"/>
              </a:rPr>
              <a:t>Product:</a:t>
            </a:r>
            <a:r>
              <a:rPr sz="3200" spc="245" dirty="0">
                <a:latin typeface="Tahoma"/>
                <a:cs typeface="Tahoma"/>
              </a:rPr>
              <a:t> </a:t>
            </a:r>
            <a:r>
              <a:rPr sz="3200" spc="145" dirty="0">
                <a:latin typeface="Tahoma"/>
                <a:cs typeface="Tahoma"/>
              </a:rPr>
              <a:t>The</a:t>
            </a:r>
            <a:r>
              <a:rPr sz="3200" spc="245" dirty="0">
                <a:latin typeface="Tahoma"/>
                <a:cs typeface="Tahoma"/>
              </a:rPr>
              <a:t> </a:t>
            </a:r>
            <a:r>
              <a:rPr sz="3200" spc="260" dirty="0">
                <a:latin typeface="Tahoma"/>
                <a:cs typeface="Tahoma"/>
              </a:rPr>
              <a:t>current</a:t>
            </a:r>
            <a:r>
              <a:rPr sz="3200" spc="245" dirty="0">
                <a:latin typeface="Tahoma"/>
                <a:cs typeface="Tahoma"/>
              </a:rPr>
              <a:t> </a:t>
            </a:r>
            <a:r>
              <a:rPr sz="3200" spc="305" dirty="0">
                <a:latin typeface="Tahoma"/>
                <a:cs typeface="Tahoma"/>
              </a:rPr>
              <a:t>SDR-</a:t>
            </a:r>
            <a:r>
              <a:rPr sz="3200" spc="310" dirty="0">
                <a:latin typeface="Tahoma"/>
                <a:cs typeface="Tahoma"/>
              </a:rPr>
              <a:t>based</a:t>
            </a:r>
            <a:r>
              <a:rPr sz="3200" spc="245" dirty="0">
                <a:latin typeface="Tahoma"/>
                <a:cs typeface="Tahoma"/>
              </a:rPr>
              <a:t> </a:t>
            </a:r>
            <a:r>
              <a:rPr sz="3200" spc="320" dirty="0">
                <a:latin typeface="Tahoma"/>
                <a:cs typeface="Tahoma"/>
              </a:rPr>
              <a:t>prototype</a:t>
            </a:r>
            <a:r>
              <a:rPr sz="3200" spc="245" dirty="0">
                <a:latin typeface="Tahoma"/>
                <a:cs typeface="Tahoma"/>
              </a:rPr>
              <a:t> </a:t>
            </a:r>
            <a:r>
              <a:rPr sz="3200" spc="265" dirty="0">
                <a:latin typeface="Tahoma"/>
                <a:cs typeface="Tahoma"/>
              </a:rPr>
              <a:t>serves</a:t>
            </a:r>
            <a:r>
              <a:rPr sz="3200" spc="245" dirty="0">
                <a:latin typeface="Tahoma"/>
                <a:cs typeface="Tahoma"/>
              </a:rPr>
              <a:t> </a:t>
            </a:r>
            <a:r>
              <a:rPr sz="3200" spc="204" dirty="0">
                <a:latin typeface="Tahoma"/>
                <a:cs typeface="Tahoma"/>
              </a:rPr>
              <a:t>as</a:t>
            </a:r>
            <a:r>
              <a:rPr sz="3200" spc="245" dirty="0">
                <a:latin typeface="Tahoma"/>
                <a:cs typeface="Tahoma"/>
              </a:rPr>
              <a:t> </a:t>
            </a:r>
            <a:r>
              <a:rPr sz="3200" dirty="0">
                <a:latin typeface="Tahoma"/>
                <a:cs typeface="Tahoma"/>
              </a:rPr>
              <a:t>a</a:t>
            </a:r>
            <a:endParaRPr sz="3200">
              <a:latin typeface="Tahoma"/>
              <a:cs typeface="Tahoma"/>
            </a:endParaRPr>
          </a:p>
          <a:p>
            <a:pPr marL="702945" marR="156845">
              <a:lnSpc>
                <a:spcPct val="111300"/>
              </a:lnSpc>
              <a:spcBef>
                <a:spcPts val="5"/>
              </a:spcBef>
            </a:pPr>
            <a:r>
              <a:rPr sz="3200" spc="260" dirty="0">
                <a:latin typeface="Tahoma"/>
                <a:cs typeface="Tahoma"/>
              </a:rPr>
              <a:t>foundation</a:t>
            </a:r>
            <a:r>
              <a:rPr sz="3200" spc="245" dirty="0">
                <a:latin typeface="Tahoma"/>
                <a:cs typeface="Tahoma"/>
              </a:rPr>
              <a:t> </a:t>
            </a:r>
            <a:r>
              <a:rPr sz="3200" spc="190" dirty="0">
                <a:latin typeface="Tahoma"/>
                <a:cs typeface="Tahoma"/>
              </a:rPr>
              <a:t>for</a:t>
            </a:r>
            <a:r>
              <a:rPr sz="3200" spc="250" dirty="0">
                <a:latin typeface="Tahoma"/>
                <a:cs typeface="Tahoma"/>
              </a:rPr>
              <a:t> </a:t>
            </a:r>
            <a:r>
              <a:rPr sz="3200" spc="50" dirty="0">
                <a:latin typeface="Tahoma"/>
                <a:cs typeface="Tahoma"/>
              </a:rPr>
              <a:t>a</a:t>
            </a:r>
            <a:r>
              <a:rPr sz="3200" spc="250" dirty="0">
                <a:latin typeface="Tahoma"/>
                <a:cs typeface="Tahoma"/>
              </a:rPr>
              <a:t> </a:t>
            </a:r>
            <a:r>
              <a:rPr sz="3200" spc="200" dirty="0">
                <a:latin typeface="Tahoma"/>
                <a:cs typeface="Tahoma"/>
              </a:rPr>
              <a:t>ruggedized,</a:t>
            </a:r>
            <a:r>
              <a:rPr sz="3200" spc="250" dirty="0">
                <a:latin typeface="Tahoma"/>
                <a:cs typeface="Tahoma"/>
              </a:rPr>
              <a:t> </a:t>
            </a:r>
            <a:r>
              <a:rPr sz="3200" spc="300" dirty="0">
                <a:latin typeface="Tahoma"/>
                <a:cs typeface="Tahoma"/>
              </a:rPr>
              <a:t>commercial</a:t>
            </a:r>
            <a:r>
              <a:rPr sz="3200" spc="250" dirty="0">
                <a:latin typeface="Tahoma"/>
                <a:cs typeface="Tahoma"/>
              </a:rPr>
              <a:t> </a:t>
            </a:r>
            <a:r>
              <a:rPr sz="3200" spc="229" dirty="0">
                <a:latin typeface="Tahoma"/>
                <a:cs typeface="Tahoma"/>
              </a:rPr>
              <a:t>hardware</a:t>
            </a:r>
            <a:r>
              <a:rPr sz="3200" spc="250" dirty="0">
                <a:latin typeface="Tahoma"/>
                <a:cs typeface="Tahoma"/>
              </a:rPr>
              <a:t> </a:t>
            </a:r>
            <a:r>
              <a:rPr sz="3200" spc="204" dirty="0">
                <a:latin typeface="Tahoma"/>
                <a:cs typeface="Tahoma"/>
              </a:rPr>
              <a:t>module.</a:t>
            </a:r>
            <a:r>
              <a:rPr sz="3200" spc="250" dirty="0">
                <a:latin typeface="Tahoma"/>
                <a:cs typeface="Tahoma"/>
              </a:rPr>
              <a:t> </a:t>
            </a:r>
            <a:r>
              <a:rPr sz="3200" spc="175" dirty="0">
                <a:latin typeface="Tahoma"/>
                <a:cs typeface="Tahoma"/>
              </a:rPr>
              <a:t>This</a:t>
            </a:r>
            <a:r>
              <a:rPr sz="3200" spc="245" dirty="0">
                <a:latin typeface="Tahoma"/>
                <a:cs typeface="Tahoma"/>
              </a:rPr>
              <a:t> </a:t>
            </a:r>
            <a:r>
              <a:rPr sz="3200" spc="265" dirty="0">
                <a:latin typeface="Tahoma"/>
                <a:cs typeface="Tahoma"/>
              </a:rPr>
              <a:t>can</a:t>
            </a:r>
            <a:r>
              <a:rPr sz="3200" spc="250" dirty="0">
                <a:latin typeface="Tahoma"/>
                <a:cs typeface="Tahoma"/>
              </a:rPr>
              <a:t> </a:t>
            </a:r>
            <a:r>
              <a:rPr sz="3200" spc="240" dirty="0">
                <a:latin typeface="Tahoma"/>
                <a:cs typeface="Tahoma"/>
              </a:rPr>
              <a:t>be </a:t>
            </a:r>
            <a:r>
              <a:rPr sz="3200" spc="270" dirty="0">
                <a:latin typeface="Tahoma"/>
                <a:cs typeface="Tahoma"/>
              </a:rPr>
              <a:t>marketed</a:t>
            </a:r>
            <a:r>
              <a:rPr sz="3200" spc="245" dirty="0">
                <a:latin typeface="Tahoma"/>
                <a:cs typeface="Tahoma"/>
              </a:rPr>
              <a:t> </a:t>
            </a:r>
            <a:r>
              <a:rPr sz="3200" spc="204" dirty="0">
                <a:latin typeface="Tahoma"/>
                <a:cs typeface="Tahoma"/>
              </a:rPr>
              <a:t>as</a:t>
            </a:r>
            <a:r>
              <a:rPr sz="3200" spc="245" dirty="0">
                <a:latin typeface="Tahoma"/>
                <a:cs typeface="Tahoma"/>
              </a:rPr>
              <a:t> </a:t>
            </a:r>
            <a:r>
              <a:rPr sz="3200" spc="50" dirty="0">
                <a:latin typeface="Tahoma"/>
                <a:cs typeface="Tahoma"/>
              </a:rPr>
              <a:t>a</a:t>
            </a:r>
            <a:r>
              <a:rPr sz="3200" spc="245" dirty="0">
                <a:latin typeface="Tahoma"/>
                <a:cs typeface="Tahoma"/>
              </a:rPr>
              <a:t> </a:t>
            </a:r>
            <a:r>
              <a:rPr sz="3200" spc="240" dirty="0">
                <a:latin typeface="Tahoma"/>
                <a:cs typeface="Tahoma"/>
              </a:rPr>
              <a:t>"plug-</a:t>
            </a:r>
            <a:r>
              <a:rPr sz="3200" spc="385" dirty="0">
                <a:latin typeface="Tahoma"/>
                <a:cs typeface="Tahoma"/>
              </a:rPr>
              <a:t>and-</a:t>
            </a:r>
            <a:r>
              <a:rPr sz="3200" spc="160" dirty="0">
                <a:latin typeface="Tahoma"/>
                <a:cs typeface="Tahoma"/>
              </a:rPr>
              <a:t>play"</a:t>
            </a:r>
            <a:r>
              <a:rPr sz="3200" spc="245" dirty="0">
                <a:latin typeface="Tahoma"/>
                <a:cs typeface="Tahoma"/>
              </a:rPr>
              <a:t> </a:t>
            </a:r>
            <a:r>
              <a:rPr sz="3200" spc="290" dirty="0">
                <a:latin typeface="Tahoma"/>
                <a:cs typeface="Tahoma"/>
              </a:rPr>
              <a:t>secure</a:t>
            </a:r>
            <a:r>
              <a:rPr sz="3200" spc="250" dirty="0">
                <a:latin typeface="Tahoma"/>
                <a:cs typeface="Tahoma"/>
              </a:rPr>
              <a:t> </a:t>
            </a:r>
            <a:r>
              <a:rPr sz="3200" spc="300" dirty="0">
                <a:latin typeface="Tahoma"/>
                <a:cs typeface="Tahoma"/>
              </a:rPr>
              <a:t>communication</a:t>
            </a:r>
            <a:r>
              <a:rPr sz="3200" spc="245" dirty="0">
                <a:latin typeface="Tahoma"/>
                <a:cs typeface="Tahoma"/>
              </a:rPr>
              <a:t> </a:t>
            </a:r>
            <a:r>
              <a:rPr sz="3200" spc="204" dirty="0">
                <a:latin typeface="Tahoma"/>
                <a:cs typeface="Tahoma"/>
              </a:rPr>
              <a:t>unit</a:t>
            </a:r>
            <a:r>
              <a:rPr sz="3200" spc="245" dirty="0">
                <a:latin typeface="Tahoma"/>
                <a:cs typeface="Tahoma"/>
              </a:rPr>
              <a:t> </a:t>
            </a:r>
            <a:r>
              <a:rPr sz="3200" spc="165" dirty="0">
                <a:latin typeface="Tahoma"/>
                <a:cs typeface="Tahoma"/>
              </a:rPr>
              <a:t>for</a:t>
            </a:r>
            <a:endParaRPr sz="3200">
              <a:latin typeface="Tahoma"/>
              <a:cs typeface="Tahoma"/>
            </a:endParaRPr>
          </a:p>
          <a:p>
            <a:pPr marL="702945">
              <a:lnSpc>
                <a:spcPct val="100000"/>
              </a:lnSpc>
              <a:spcBef>
                <a:spcPts val="434"/>
              </a:spcBef>
            </a:pPr>
            <a:r>
              <a:rPr sz="3200" spc="280" dirty="0">
                <a:latin typeface="Tahoma"/>
                <a:cs typeface="Tahoma"/>
              </a:rPr>
              <a:t>autonomous</a:t>
            </a:r>
            <a:r>
              <a:rPr sz="3200" spc="240" dirty="0">
                <a:latin typeface="Tahoma"/>
                <a:cs typeface="Tahoma"/>
              </a:rPr>
              <a:t> </a:t>
            </a:r>
            <a:r>
              <a:rPr sz="3200" spc="270" dirty="0">
                <a:latin typeface="Tahoma"/>
                <a:cs typeface="Tahoma"/>
              </a:rPr>
              <a:t>vessels</a:t>
            </a:r>
            <a:r>
              <a:rPr sz="3200" spc="240" dirty="0">
                <a:latin typeface="Tahoma"/>
                <a:cs typeface="Tahoma"/>
              </a:rPr>
              <a:t> </a:t>
            </a:r>
            <a:r>
              <a:rPr sz="3200" spc="215" dirty="0">
                <a:latin typeface="Tahoma"/>
                <a:cs typeface="Tahoma"/>
              </a:rPr>
              <a:t>(USVs)</a:t>
            </a:r>
            <a:r>
              <a:rPr sz="3200" spc="240" dirty="0">
                <a:latin typeface="Tahoma"/>
                <a:cs typeface="Tahoma"/>
              </a:rPr>
              <a:t> </a:t>
            </a:r>
            <a:r>
              <a:rPr sz="3200" spc="229" dirty="0">
                <a:latin typeface="Tahoma"/>
                <a:cs typeface="Tahoma"/>
              </a:rPr>
              <a:t>and</a:t>
            </a:r>
            <a:r>
              <a:rPr sz="3200" spc="240" dirty="0">
                <a:latin typeface="Tahoma"/>
                <a:cs typeface="Tahoma"/>
              </a:rPr>
              <a:t> industrial</a:t>
            </a:r>
            <a:r>
              <a:rPr sz="3200" spc="245" dirty="0">
                <a:latin typeface="Tahoma"/>
                <a:cs typeface="Tahoma"/>
              </a:rPr>
              <a:t> </a:t>
            </a:r>
            <a:r>
              <a:rPr sz="3200" dirty="0">
                <a:latin typeface="Tahoma"/>
                <a:cs typeface="Tahoma"/>
              </a:rPr>
              <a:t>IoT</a:t>
            </a:r>
            <a:r>
              <a:rPr sz="3200" spc="240" dirty="0">
                <a:latin typeface="Tahoma"/>
                <a:cs typeface="Tahoma"/>
              </a:rPr>
              <a:t> </a:t>
            </a:r>
            <a:r>
              <a:rPr sz="3200" spc="225" dirty="0">
                <a:latin typeface="Tahoma"/>
                <a:cs typeface="Tahoma"/>
              </a:rPr>
              <a:t>manufacturers.</a:t>
            </a:r>
            <a:endParaRPr sz="3200">
              <a:latin typeface="Tahoma"/>
              <a:cs typeface="Tahoma"/>
            </a:endParaRPr>
          </a:p>
        </p:txBody>
      </p:sp>
      <p:sp>
        <p:nvSpPr>
          <p:cNvPr id="6" name="object 6"/>
          <p:cNvSpPr txBox="1">
            <a:spLocks noGrp="1"/>
          </p:cNvSpPr>
          <p:nvPr>
            <p:ph type="title"/>
          </p:nvPr>
        </p:nvSpPr>
        <p:spPr>
          <a:xfrm>
            <a:off x="1016000" y="971125"/>
            <a:ext cx="15527655" cy="1068070"/>
          </a:xfrm>
          <a:prstGeom prst="rect">
            <a:avLst/>
          </a:prstGeom>
        </p:spPr>
        <p:txBody>
          <a:bodyPr vert="horz" wrap="square" lIns="0" tIns="17780" rIns="0" bIns="0" rtlCol="0">
            <a:spAutoFit/>
          </a:bodyPr>
          <a:lstStyle/>
          <a:p>
            <a:pPr marL="12700">
              <a:lnSpc>
                <a:spcPct val="100000"/>
              </a:lnSpc>
              <a:spcBef>
                <a:spcPts val="140"/>
              </a:spcBef>
            </a:pPr>
            <a:r>
              <a:rPr sz="6800" b="1" spc="465" dirty="0">
                <a:solidFill>
                  <a:srgbClr val="1B2020"/>
                </a:solidFill>
                <a:latin typeface="Trebuchet MS"/>
                <a:cs typeface="Trebuchet MS"/>
              </a:rPr>
              <a:t>Commercialization</a:t>
            </a:r>
            <a:r>
              <a:rPr sz="6800" b="1" spc="-580" dirty="0">
                <a:solidFill>
                  <a:srgbClr val="1B2020"/>
                </a:solidFill>
                <a:latin typeface="Trebuchet MS"/>
                <a:cs typeface="Trebuchet MS"/>
              </a:rPr>
              <a:t> </a:t>
            </a:r>
            <a:r>
              <a:rPr sz="6800" b="1" spc="620" dirty="0">
                <a:solidFill>
                  <a:srgbClr val="1B2020"/>
                </a:solidFill>
                <a:latin typeface="Trebuchet MS"/>
                <a:cs typeface="Trebuchet MS"/>
              </a:rPr>
              <a:t>&amp;</a:t>
            </a:r>
            <a:r>
              <a:rPr sz="6800" b="1" spc="-575" dirty="0">
                <a:solidFill>
                  <a:srgbClr val="1B2020"/>
                </a:solidFill>
                <a:latin typeface="Trebuchet MS"/>
                <a:cs typeface="Trebuchet MS"/>
              </a:rPr>
              <a:t> </a:t>
            </a:r>
            <a:r>
              <a:rPr sz="6800" b="1" spc="195" dirty="0">
                <a:solidFill>
                  <a:srgbClr val="1B2020"/>
                </a:solidFill>
                <a:latin typeface="Trebuchet MS"/>
                <a:cs typeface="Trebuchet MS"/>
              </a:rPr>
              <a:t>Future</a:t>
            </a:r>
            <a:r>
              <a:rPr sz="6800" b="1" spc="-575" dirty="0">
                <a:solidFill>
                  <a:srgbClr val="1B2020"/>
                </a:solidFill>
                <a:latin typeface="Trebuchet MS"/>
                <a:cs typeface="Trebuchet MS"/>
              </a:rPr>
              <a:t> </a:t>
            </a:r>
            <a:r>
              <a:rPr sz="6800" b="1" spc="540" dirty="0">
                <a:solidFill>
                  <a:srgbClr val="1B2020"/>
                </a:solidFill>
                <a:latin typeface="Trebuchet MS"/>
                <a:cs typeface="Trebuchet MS"/>
              </a:rPr>
              <a:t>Scope</a:t>
            </a:r>
            <a:endParaRPr sz="6800">
              <a:latin typeface="Trebuchet MS"/>
              <a:cs typeface="Trebuchet MS"/>
            </a:endParaRPr>
          </a:p>
        </p:txBody>
      </p:sp>
      <p:pic>
        <p:nvPicPr>
          <p:cNvPr id="7" name="object 7"/>
          <p:cNvPicPr/>
          <p:nvPr/>
        </p:nvPicPr>
        <p:blipFill>
          <a:blip r:embed="rId5" cstate="print"/>
          <a:stretch>
            <a:fillRect/>
          </a:stretch>
        </p:blipFill>
        <p:spPr>
          <a:xfrm>
            <a:off x="0" y="34290"/>
            <a:ext cx="18287999" cy="1022032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8000" cy="102869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3F7F54-4426-492B-05F5-A03ABA31224B}"/>
              </a:ext>
            </a:extLst>
          </p:cNvPr>
          <p:cNvSpPr txBox="1"/>
          <p:nvPr/>
        </p:nvSpPr>
        <p:spPr>
          <a:xfrm>
            <a:off x="2895600" y="3303032"/>
            <a:ext cx="12344400" cy="1077218"/>
          </a:xfrm>
          <a:prstGeom prst="rect">
            <a:avLst/>
          </a:prstGeom>
          <a:noFill/>
        </p:spPr>
        <p:txBody>
          <a:bodyPr wrap="square">
            <a:spAutoFit/>
          </a:bodyPr>
          <a:lstStyle/>
          <a:p>
            <a:r>
              <a:rPr lang="en-IN" sz="3200" dirty="0">
                <a:hlinkClick r:id="rId2"/>
              </a:rPr>
              <a:t>https://drive.google.com/file/d/1WOdy535DaGs-zP9U97azA8G__Pl-C75O/view?usp=drive_link</a:t>
            </a:r>
            <a:endParaRPr lang="en-IN" sz="3200" dirty="0"/>
          </a:p>
        </p:txBody>
      </p:sp>
      <p:sp>
        <p:nvSpPr>
          <p:cNvPr id="5" name="TextBox 4">
            <a:extLst>
              <a:ext uri="{FF2B5EF4-FFF2-40B4-BE49-F238E27FC236}">
                <a16:creationId xmlns:a16="http://schemas.microsoft.com/office/drawing/2014/main" id="{1A4A93AB-2FD7-D4BB-F479-308E5944850E}"/>
              </a:ext>
            </a:extLst>
          </p:cNvPr>
          <p:cNvSpPr txBox="1"/>
          <p:nvPr/>
        </p:nvSpPr>
        <p:spPr>
          <a:xfrm>
            <a:off x="2362200" y="2552700"/>
            <a:ext cx="9144000" cy="646331"/>
          </a:xfrm>
          <a:prstGeom prst="rect">
            <a:avLst/>
          </a:prstGeom>
          <a:noFill/>
        </p:spPr>
        <p:txBody>
          <a:bodyPr wrap="square">
            <a:spAutoFit/>
          </a:bodyPr>
          <a:lstStyle/>
          <a:p>
            <a:r>
              <a:rPr lang="en-IN" sz="3600" b="1" dirty="0"/>
              <a:t>Video Demo : </a:t>
            </a:r>
          </a:p>
        </p:txBody>
      </p:sp>
      <p:sp>
        <p:nvSpPr>
          <p:cNvPr id="6" name="TextBox 5">
            <a:extLst>
              <a:ext uri="{FF2B5EF4-FFF2-40B4-BE49-F238E27FC236}">
                <a16:creationId xmlns:a16="http://schemas.microsoft.com/office/drawing/2014/main" id="{BB1070BA-D806-2781-28E8-AA2271D2FC50}"/>
              </a:ext>
            </a:extLst>
          </p:cNvPr>
          <p:cNvSpPr txBox="1"/>
          <p:nvPr/>
        </p:nvSpPr>
        <p:spPr>
          <a:xfrm>
            <a:off x="2355574" y="4497169"/>
            <a:ext cx="9144000" cy="646331"/>
          </a:xfrm>
          <a:prstGeom prst="rect">
            <a:avLst/>
          </a:prstGeom>
          <a:noFill/>
        </p:spPr>
        <p:txBody>
          <a:bodyPr wrap="square">
            <a:spAutoFit/>
          </a:bodyPr>
          <a:lstStyle/>
          <a:p>
            <a:r>
              <a:rPr lang="en-IN" sz="3600" b="1" dirty="0"/>
              <a:t>GitHub Link : </a:t>
            </a:r>
          </a:p>
        </p:txBody>
      </p:sp>
      <p:sp>
        <p:nvSpPr>
          <p:cNvPr id="10" name="TextBox 9">
            <a:extLst>
              <a:ext uri="{FF2B5EF4-FFF2-40B4-BE49-F238E27FC236}">
                <a16:creationId xmlns:a16="http://schemas.microsoft.com/office/drawing/2014/main" id="{695AD351-FFCF-4AFE-50DF-97F9595DEBFF}"/>
              </a:ext>
            </a:extLst>
          </p:cNvPr>
          <p:cNvSpPr txBox="1"/>
          <p:nvPr/>
        </p:nvSpPr>
        <p:spPr>
          <a:xfrm>
            <a:off x="2971800" y="5139779"/>
            <a:ext cx="12344400" cy="1077218"/>
          </a:xfrm>
          <a:prstGeom prst="rect">
            <a:avLst/>
          </a:prstGeom>
          <a:noFill/>
        </p:spPr>
        <p:txBody>
          <a:bodyPr wrap="square">
            <a:spAutoFit/>
          </a:bodyPr>
          <a:lstStyle/>
          <a:p>
            <a:r>
              <a:rPr lang="en-IN" sz="3200" dirty="0">
                <a:hlinkClick r:id="rId3"/>
              </a:rPr>
              <a:t>https://github.com/AdarshCodeRealm/SHMN-Naval-Communication/</a:t>
            </a:r>
            <a:endParaRPr lang="en-IN" sz="3200" dirty="0"/>
          </a:p>
        </p:txBody>
      </p:sp>
    </p:spTree>
    <p:extLst>
      <p:ext uri="{BB962C8B-B14F-4D97-AF65-F5344CB8AC3E}">
        <p14:creationId xmlns:p14="http://schemas.microsoft.com/office/powerpoint/2010/main" val="2370884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13210" y="3030827"/>
            <a:ext cx="9062085" cy="3183890"/>
          </a:xfrm>
          <a:prstGeom prst="rect">
            <a:avLst/>
          </a:prstGeom>
        </p:spPr>
        <p:txBody>
          <a:bodyPr vert="horz" wrap="square" lIns="0" tIns="518159" rIns="0" bIns="0" rtlCol="0">
            <a:spAutoFit/>
          </a:bodyPr>
          <a:lstStyle/>
          <a:p>
            <a:pPr marL="12700" marR="5080" indent="401955">
              <a:lnSpc>
                <a:spcPct val="72500"/>
              </a:lnSpc>
              <a:spcBef>
                <a:spcPts val="4079"/>
              </a:spcBef>
            </a:pPr>
            <a:r>
              <a:rPr sz="12000" b="1" spc="835" dirty="0">
                <a:solidFill>
                  <a:srgbClr val="1B2020"/>
                </a:solidFill>
                <a:latin typeface="Trebuchet MS"/>
                <a:cs typeface="Trebuchet MS"/>
              </a:rPr>
              <a:t>Thank</a:t>
            </a:r>
            <a:r>
              <a:rPr sz="12000" b="1" spc="-1065" dirty="0">
                <a:solidFill>
                  <a:srgbClr val="1B2020"/>
                </a:solidFill>
                <a:latin typeface="Trebuchet MS"/>
                <a:cs typeface="Trebuchet MS"/>
              </a:rPr>
              <a:t> </a:t>
            </a:r>
            <a:r>
              <a:rPr sz="12000" b="1" spc="955" dirty="0">
                <a:solidFill>
                  <a:srgbClr val="1B2020"/>
                </a:solidFill>
                <a:latin typeface="Trebuchet MS"/>
                <a:cs typeface="Trebuchet MS"/>
              </a:rPr>
              <a:t>you </a:t>
            </a:r>
            <a:r>
              <a:rPr sz="12000" b="1" spc="685" dirty="0">
                <a:solidFill>
                  <a:srgbClr val="1B2020"/>
                </a:solidFill>
                <a:latin typeface="Trebuchet MS"/>
                <a:cs typeface="Trebuchet MS"/>
              </a:rPr>
              <a:t>very</a:t>
            </a:r>
            <a:r>
              <a:rPr sz="12000" b="1" spc="-1055" dirty="0">
                <a:solidFill>
                  <a:srgbClr val="1B2020"/>
                </a:solidFill>
                <a:latin typeface="Trebuchet MS"/>
                <a:cs typeface="Trebuchet MS"/>
              </a:rPr>
              <a:t> </a:t>
            </a:r>
            <a:r>
              <a:rPr sz="12000" b="1" spc="1115" dirty="0">
                <a:solidFill>
                  <a:srgbClr val="1B2020"/>
                </a:solidFill>
                <a:latin typeface="Trebuchet MS"/>
                <a:cs typeface="Trebuchet MS"/>
              </a:rPr>
              <a:t>much!</a:t>
            </a:r>
            <a:endParaRPr sz="1200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TotalTime>
  <Words>806</Words>
  <Application>Microsoft Office PowerPoint</Application>
  <PresentationFormat>Custom</PresentationFormat>
  <Paragraphs>67</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Arial Black</vt:lpstr>
      <vt:lpstr>Arial MT</vt:lpstr>
      <vt:lpstr>Lucida Sans Unicode</vt:lpstr>
      <vt:lpstr>Mona Sans VF</vt:lpstr>
      <vt:lpstr>Tahoma</vt:lpstr>
      <vt:lpstr>Times New Roman</vt:lpstr>
      <vt:lpstr>Trebuchet MS</vt:lpstr>
      <vt:lpstr>Office Theme</vt:lpstr>
      <vt:lpstr>Shri Guru Gobind Singhji Institute of Engineering and Technology, Nanded</vt:lpstr>
      <vt:lpstr>Problem statement</vt:lpstr>
      <vt:lpstr>Existing Communication Systems</vt:lpstr>
      <vt:lpstr>Solution</vt:lpstr>
      <vt:lpstr>Dijkstra Algorithm</vt:lpstr>
      <vt:lpstr>PowerPoint Presentation</vt:lpstr>
      <vt:lpstr>PowerPoint Presentation</vt:lpstr>
      <vt:lpstr>PowerPoint Presentation</vt:lpstr>
      <vt:lpstr>PowerPoint Presentation</vt:lpstr>
      <vt:lpstr>Commercialization &amp; Future Scope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Minimalist Project Presentation</dc:title>
  <dc:creator>Adarsh Ramgirwar</dc:creator>
  <cp:keywords>DAG-ZzlH2TQ,BAFL0d6UrJM,0</cp:keywords>
  <cp:lastModifiedBy>adarsh ramgirwar</cp:lastModifiedBy>
  <cp:revision>5</cp:revision>
  <dcterms:created xsi:type="dcterms:W3CDTF">2026-01-18T12:54:51Z</dcterms:created>
  <dcterms:modified xsi:type="dcterms:W3CDTF">2026-05-04T02:34:41Z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2026-01-18T00:00:00Z</vt:filetime>
  </property>
  <property fmtid="{D5CDD505-2E9C-101B-9397-08002B2CF9AE}" pid="3" name="Creator">
    <vt:lpwstr>Canva</vt:lpwstr>
  </property>
  <property fmtid="{D5CDD505-2E9C-101B-9397-08002B2CF9AE}" pid="4" name="LastSaved">
    <vt:filetime>2026-01-18T00:00:00Z</vt:filetime>
  </property>
  <property fmtid="{D5CDD505-2E9C-101B-9397-08002B2CF9AE}" pid="5" name="Producer">
    <vt:lpwstr>Canva</vt:lpwstr>
  </property>
</Properties>
</file>